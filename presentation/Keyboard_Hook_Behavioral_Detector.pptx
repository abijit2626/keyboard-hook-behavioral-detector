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437c9a73-f12b-4a86-c327-83ada384b408}">
          <p14:sldIdLst>
            <p14:sldId id="256"/>
          </p14:sldIdLst>
        </p14:section>
        <p14:section name="Introduction" id="{2120eda4-f313-ef31-0677-8e5f865f3038}">
          <p14:sldIdLst>
            <p14:sldId id="257"/>
          </p14:sldIdLst>
        </p14:section>
        <p14:section name="Problem Definition" id="{7cafe755-7d42-870c-9803-3bc77635c081}">
          <p14:sldIdLst>
            <p14:sldId id="258"/>
          </p14:sldIdLst>
        </p14:section>
        <p14:section name="Literature Survey" id="{632934bb-bc47-3ec3-a277-54c1e85a8c2e}">
          <p14:sldIdLst>
            <p14:sldId id="259"/>
            <p14:sldId id="260"/>
          </p14:sldIdLst>
        </p14:section>
        <p14:section name="Inferences" id="{0ed5d24a-9f97-1e19-bce3-a365c3e8337f}">
          <p14:sldIdLst>
            <p14:sldId id="261"/>
          </p14:sldIdLst>
        </p14:section>
        <p14:section name="Proposed System" id="{5e5e7c2d-eae5-3722-c740-9acbf8299f1d}">
          <p14:sldIdLst>
            <p14:sldId id="262"/>
            <p14:sldId id="263"/>
          </p14:sldIdLst>
        </p14:section>
        <p14:section name="Architecture" id="{70fba6f5-8dbf-7d66-5673-ae9b2f53d9f6}">
          <p14:sldIdLst>
            <p14:sldId id="264"/>
            <p14:sldId id="265"/>
          </p14:sldIdLst>
        </p14:section>
        <p14:section name="Implementation" id="{3f1cde7f-0cdc-a0a0-42e4-0a58e74370f1}">
          <p14:sldIdLst>
            <p14:sldId id="266"/>
          </p14:sldIdLst>
        </p14:section>
        <p14:section name="Results and Discussions" id="{ce10ebbc-2e58-612c-12cf-71c523e01b00}">
          <p14:sldIdLst>
            <p14:sldId id="267"/>
            <p14:sldId id="268"/>
            <p14:sldId id="269"/>
            <p14:sldId id="270"/>
            <p14:sldId id="271"/>
          </p14:sldIdLst>
        </p14:section>
        <p14:section name="References" id="{8cd7d1bd-c0df-e057-0e64-da59d787ef6b}">
          <p14:sldIdLst>
            <p14:sldId id="272"/>
          </p14:sldIdLst>
        </p14:section>
        <p14:section name="Conclusion" id="{6fcdd3b9-3ff3-50a1-89f4-3c06e81f7be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0EA5A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FH_char12</c:v>
                  </c:pt>
                  <c:pt idx="1">
                    <c:v>CheckSum</c:v>
                  </c:pt>
                  <c:pt idx="2">
                    <c:v>E_file</c:v>
                  </c:pt>
                  <c:pt idx="3">
                    <c:v>OH_DLLchar2</c:v>
                  </c:pt>
                  <c:pt idx="4">
                    <c:v>OH_DLLchar0</c:v>
                  </c:pt>
                  <c:pt idx="5">
                    <c:v>fileinfo</c:v>
                  </c:pt>
                  <c:pt idx="6">
                    <c:v>filesize</c:v>
                  </c:pt>
                  <c:pt idx="7">
                    <c:v>FH_char0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0.1754</c:v>
                </c:pt>
                <c:pt idx="1">
                  <c:v>0.0818</c:v>
                </c:pt>
                <c:pt idx="2">
                  <c:v>0.0749</c:v>
                </c:pt>
                <c:pt idx="3">
                  <c:v>0.0618</c:v>
                </c:pt>
                <c:pt idx="4">
                  <c:v>0.0529</c:v>
                </c:pt>
                <c:pt idx="5">
                  <c:v>0.0508</c:v>
                </c:pt>
                <c:pt idx="6">
                  <c:v>0.0437</c:v>
                </c:pt>
                <c:pt idx="7">
                  <c:v>0.0436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</c:v>
                </c:pt>
              </c:strCache>
            </c:strRef>
          </c:tx>
          <c:spPr>
            <a:solidFill>
              <a:srgbClr val="0F172A"/>
            </a:solidFill>
            <a:ln w="38100" cap="flat">
              <a:solidFill>
                <a:srgbClr val="0F172A"/>
              </a:solidFill>
              <a:prstDash val="solid,dash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72A"/>
              </a:solidFill>
              <a:ln w="9525" cap="flat">
                <a:solidFill>
                  <a:srgbClr val="0F17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26</c:v>
                </c:pt>
                <c:pt idx="1">
                  <c:v>47</c:v>
                </c:pt>
                <c:pt idx="2">
                  <c:v>93</c:v>
                </c:pt>
                <c:pt idx="3">
                  <c:v>88</c:v>
                </c:pt>
                <c:pt idx="4">
                  <c:v>134</c:v>
                </c:pt>
                <c:pt idx="5">
                  <c:v>129</c:v>
                </c:pt>
                <c:pt idx="6">
                  <c:v>124</c:v>
                </c:pt>
                <c:pt idx="7">
                  <c:v>119</c:v>
                </c:pt>
                <c:pt idx="8">
                  <c:v>114</c:v>
                </c:pt>
                <c:pt idx="9">
                  <c:v>109</c:v>
                </c:pt>
                <c:pt idx="10">
                  <c:v>104</c:v>
                </c:pt>
                <c:pt idx="11">
                  <c:v>99</c:v>
                </c:pt>
                <c:pt idx="12">
                  <c:v>94</c:v>
                </c:pt>
                <c:pt idx="13">
                  <c:v>89</c:v>
                </c:pt>
                <c:pt idx="14">
                  <c:v>84</c:v>
                </c:pt>
                <c:pt idx="15">
                  <c:v>79</c:v>
                </c:pt>
                <c:pt idx="16">
                  <c:v>74</c:v>
                </c:pt>
                <c:pt idx="17">
                  <c:v>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threshold (60)</c:v>
                </c:pt>
              </c:strCache>
            </c:strRef>
          </c:tx>
          <c:spPr>
            <a:solidFill>
              <a:srgbClr val="EF4444"/>
            </a:solidFill>
            <a:ln w="38100" cap="flat">
              <a:solidFill>
                <a:srgbClr val="EF4444"/>
              </a:solidFill>
              <a:prstDash val="solid,dash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60</c:v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60</c:v>
                </c:pt>
                <c:pt idx="5">
                  <c:v>60</c:v>
                </c:pt>
                <c:pt idx="6">
                  <c:v>60</c:v>
                </c:pt>
                <c:pt idx="7">
                  <c:v>60</c:v>
                </c:pt>
                <c:pt idx="8">
                  <c:v>60</c:v>
                </c:pt>
                <c:pt idx="9">
                  <c:v>60</c:v>
                </c:pt>
                <c:pt idx="10">
                  <c:v>60</c:v>
                </c:pt>
                <c:pt idx="11">
                  <c:v>60</c:v>
                </c:pt>
                <c:pt idx="12">
                  <c:v>60</c:v>
                </c:pt>
                <c:pt idx="13">
                  <c:v>60</c:v>
                </c:pt>
                <c:pt idx="14">
                  <c:v>60</c:v>
                </c:pt>
                <c:pt idx="15">
                  <c:v>60</c:v>
                </c:pt>
                <c:pt idx="16">
                  <c:v>60</c:v>
                </c:pt>
                <c:pt idx="17">
                  <c:v>60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threshold (30)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,dash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30</c:v>
                </c:pt>
                <c:pt idx="4">
                  <c:v>30</c:v>
                </c:pt>
                <c:pt idx="5">
                  <c:v>30</c:v>
                </c:pt>
                <c:pt idx="6">
                  <c:v>30</c:v>
                </c:pt>
                <c:pt idx="7">
                  <c:v>30</c:v>
                </c:pt>
                <c:pt idx="8">
                  <c:v>30</c:v>
                </c:pt>
                <c:pt idx="9">
                  <c:v>30</c:v>
                </c:pt>
                <c:pt idx="10">
                  <c:v>30</c:v>
                </c:pt>
                <c:pt idx="11">
                  <c:v>30</c:v>
                </c:pt>
                <c:pt idx="12">
                  <c:v>30</c:v>
                </c:pt>
                <c:pt idx="13">
                  <c:v>30</c:v>
                </c:pt>
                <c:pt idx="14">
                  <c:v>30</c:v>
                </c:pt>
                <c:pt idx="15">
                  <c:v>30</c:v>
                </c:pt>
                <c:pt idx="16">
                  <c:v>30</c:v>
                </c:pt>
                <c:pt idx="17">
                  <c:v>30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334155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334155"/>
                    </a:solidFill>
                    <a:latin typeface="+mn-lt"/>
                  </a:rPr>
                  <a:t>Analysis cycle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Windows user-mode tool that finds processes capable of installing keyboard hooks and judges their risk over time. Pitch in one line: capability is not intent, so we watch behaviour and persistence and explain every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Hooks are a normal Windows feature, which is exactly why keylogger detection is hard. This tool follows the same approach modern EDR telemetry agents use: capability, behaviour, persistence, then an explainable risk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 as a precision problem: we must flag the few malicious hook users without alerting on every overlay. The four challenges on this slide directly motivate the design on later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Keylogger-specific research is mostly dynamic: it probes or profiles running processes. MITRE ATT&amp;CK gives the vocabulary for the techniques; we use it to organise our static API fingerprint.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ML on PE files is accurate for malware in general. Our malware-ML layer reuses the public ClaMP dataset [4]. None of these works give a time-aware, explainable verdict about keylogging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inference maps to a design decision. These four decisions are the backbone of the proposed system: passive observation, a keylogger-specific fingerprint, temporal scoring, and ML that can only amplify.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independent signals, layered the way a detection-engineering team would. The key principle: the ML and the API fingerprint never create risk on their own; they only add a bonus to an event that already carries rule-based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 is explainable by construction: every point comes from a named event weight plus two bounded bonuses. Thresholds are 30 for MEDIUM and 60 for HIGH, and the score is capped at 150 and decays by 5 per analysis cycle (about every 30 seconds with the default settings).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controller calls the scanner and analyzer in-process so the ML model stays warm. Each scan writes a snapshot; the analyzer diffs snapshots into behaviour events; the risk engine turns events into a persistent, decaying score stored in temporal_state.json. The dashboard and CLI only read that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only labels capability. The temporal analyzer then compares consecutive snapshots to emit events: first sighting, hooks appearing, new hook modules, hooks removed. Identity is path plus creation time rather than PID.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stack is deliberately small. psutil and pefile do the observation, scikit-learn the ML, ctypes calls WinVerifyTrust directly so signature checks don't spawn PowerShell, and Flask serves a read-only dashboard. pytest and GitHub Actions keep it honest: CI fails if ML accuracy drops below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come from running train_model.py: 80/20 stratified split of the 5,210-sample ClaMP dataset, 1,042 held-out samples. Only 10 of 1,042 were misclassified: 7 false alarms and 3 misses. This measures general malware detection on a public dataset, not live keylogger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Random Forest leans on header characteristics, checksum, file entropy and DLL-characteristics flags. Right: measured performance from the project README after the performance fixes: in-process scheduling, direct WinVerifyTrust via ctypes, one shared PE parse, and an lru_cache per executable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is a simulation using the project's own temporal_risk_engine, not live data: escalation LOW to MEDIUM to HIGH as a process persists, then slow decay. The case study is a genuine finding from a real run, where a GPU vendor overlay reached a score of 536. The fix was to recalibrate weights, halve the ML bonus scales and cap the score at 150.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reads the same temporal_state.json as the CLI report and never re-scores anything. The screenshot uses demo data. It binds to localhost by default because the tool's own telemetry is sensitive.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limits: the 99% is on a public general-malware dataset, not on live keyloggers (no real malware is collected or run for safety). Static signals can't separate a legitimate overlay from a keylogger, so the allowlist and gating carry that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Citations [1]-[6] are cited on the literature survey slides; [7]-[9] cover the classifier, library and Windows API. Verify bibliographic details against the original sources before final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design philosophy. Invite questions; likely ones: how false positives are handled (allowlist, gating, decay, cap), why no real malware was used (safety, public dataset), and what the 99% does and doesn't mean.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1005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PROJECT PRESENTATION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3716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Keyboard Hook Behavioral Detector</a:t>
            </a:r>
            <a:endParaRPr lang="en-US" sz="3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3063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Layered, explainable risk scoring for keylogger-capable processes on Windows</a:t>
            </a:r>
            <a:endParaRPr lang="en-US" sz="1800" dirty="0"/>
          </a:p>
        </p:txBody>
      </p:sp>
      <p:sp>
        <p:nvSpPr>
          <p:cNvPr id="5" name="Presenter"/>
          <p:cNvSpPr txBox="1"/>
          <p:nvPr/>
        </p:nvSpPr>
        <p:spPr>
          <a:xfrm>
            <a:off x="5486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Presented by Abijit</a:t>
            </a:r>
            <a:endParaRPr lang="en-US" sz="1400" dirty="0"/>
          </a:p>
        </p:txBody>
      </p:sp>
      <p:sp>
        <p:nvSpPr>
          <p:cNvPr id="6" name="Key Q"/>
          <p:cNvSpPr/>
          <p:nvPr/>
        </p:nvSpPr>
        <p:spPr>
          <a:xfrm>
            <a:off x="5943600" y="8229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Key label Q"/>
          <p:cNvSpPr txBox="1"/>
          <p:nvPr/>
        </p:nvSpPr>
        <p:spPr>
          <a:xfrm>
            <a:off x="5943600" y="822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Q</a:t>
            </a:r>
            <a:endParaRPr lang="en-US" sz="2000" dirty="0"/>
          </a:p>
        </p:txBody>
      </p:sp>
      <p:sp>
        <p:nvSpPr>
          <p:cNvPr id="8" name="Key W"/>
          <p:cNvSpPr/>
          <p:nvPr/>
        </p:nvSpPr>
        <p:spPr>
          <a:xfrm>
            <a:off x="6858000" y="8229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Key label W"/>
          <p:cNvSpPr txBox="1"/>
          <p:nvPr/>
        </p:nvSpPr>
        <p:spPr>
          <a:xfrm>
            <a:off x="6858000" y="822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W</a:t>
            </a:r>
            <a:endParaRPr lang="en-US" sz="2000" dirty="0"/>
          </a:p>
        </p:txBody>
      </p:sp>
      <p:sp>
        <p:nvSpPr>
          <p:cNvPr id="10" name="Key E"/>
          <p:cNvSpPr/>
          <p:nvPr/>
        </p:nvSpPr>
        <p:spPr>
          <a:xfrm>
            <a:off x="7772400" y="8229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Key label E"/>
          <p:cNvSpPr txBox="1"/>
          <p:nvPr/>
        </p:nvSpPr>
        <p:spPr>
          <a:xfrm>
            <a:off x="7772400" y="822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E</a:t>
            </a:r>
            <a:endParaRPr lang="en-US" sz="2000" dirty="0"/>
          </a:p>
        </p:txBody>
      </p:sp>
      <p:sp>
        <p:nvSpPr>
          <p:cNvPr id="12" name="Key A"/>
          <p:cNvSpPr/>
          <p:nvPr/>
        </p:nvSpPr>
        <p:spPr>
          <a:xfrm>
            <a:off x="5943600" y="17373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Key label A"/>
          <p:cNvSpPr txBox="1"/>
          <p:nvPr/>
        </p:nvSpPr>
        <p:spPr>
          <a:xfrm>
            <a:off x="594360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A</a:t>
            </a:r>
            <a:endParaRPr lang="en-US" sz="2000" dirty="0"/>
          </a:p>
        </p:txBody>
      </p:sp>
      <p:sp>
        <p:nvSpPr>
          <p:cNvPr id="14" name="Key FaBug tile"/>
          <p:cNvSpPr/>
          <p:nvPr/>
        </p:nvSpPr>
        <p:spPr>
          <a:xfrm>
            <a:off x="6858000" y="17373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Key FaBug icon" descr="Key FaB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2310" y="1931670"/>
            <a:ext cx="388620" cy="388620"/>
          </a:xfrm>
          <a:prstGeom prst="rect">
            <a:avLst/>
          </a:prstGeom>
        </p:spPr>
      </p:pic>
      <p:sp>
        <p:nvSpPr>
          <p:cNvPr id="16" name="Key D"/>
          <p:cNvSpPr/>
          <p:nvPr/>
        </p:nvSpPr>
        <p:spPr>
          <a:xfrm>
            <a:off x="7772400" y="17373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Key label D"/>
          <p:cNvSpPr txBox="1"/>
          <p:nvPr/>
        </p:nvSpPr>
        <p:spPr>
          <a:xfrm>
            <a:off x="777240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D</a:t>
            </a:r>
            <a:endParaRPr lang="en-US" sz="2000" dirty="0"/>
          </a:p>
        </p:txBody>
      </p:sp>
      <p:sp>
        <p:nvSpPr>
          <p:cNvPr id="18" name="Key Z"/>
          <p:cNvSpPr/>
          <p:nvPr/>
        </p:nvSpPr>
        <p:spPr>
          <a:xfrm>
            <a:off x="5943600" y="26517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Key label Z"/>
          <p:cNvSpPr txBox="1"/>
          <p:nvPr/>
        </p:nvSpPr>
        <p:spPr>
          <a:xfrm>
            <a:off x="594360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Z</a:t>
            </a:r>
            <a:endParaRPr lang="en-US" sz="2000" dirty="0"/>
          </a:p>
        </p:txBody>
      </p:sp>
      <p:sp>
        <p:nvSpPr>
          <p:cNvPr id="20" name="Key X"/>
          <p:cNvSpPr/>
          <p:nvPr/>
        </p:nvSpPr>
        <p:spPr>
          <a:xfrm>
            <a:off x="6858000" y="26517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Key label X"/>
          <p:cNvSpPr txBox="1"/>
          <p:nvPr/>
        </p:nvSpPr>
        <p:spPr>
          <a:xfrm>
            <a:off x="685800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X</a:t>
            </a:r>
            <a:endParaRPr lang="en-US" sz="2000" dirty="0"/>
          </a:p>
        </p:txBody>
      </p:sp>
      <p:sp>
        <p:nvSpPr>
          <p:cNvPr id="22" name="Key FaEye tile"/>
          <p:cNvSpPr/>
          <p:nvPr/>
        </p:nvSpPr>
        <p:spPr>
          <a:xfrm>
            <a:off x="7772400" y="26517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Key FaEye icon" descr="Key Fa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710" y="2846070"/>
            <a:ext cx="388620" cy="388620"/>
          </a:xfrm>
          <a:prstGeom prst="rect">
            <a:avLst/>
          </a:prstGeom>
        </p:spPr>
      </p:pic>
      <p:sp>
        <p:nvSpPr>
          <p:cNvPr id="24" name="Key FaShieldAlt tile"/>
          <p:cNvSpPr/>
          <p:nvPr/>
        </p:nvSpPr>
        <p:spPr>
          <a:xfrm>
            <a:off x="5943600" y="35661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Key FaShieldAlt icon" descr="Key FaShield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910" y="3760470"/>
            <a:ext cx="388620" cy="388620"/>
          </a:xfrm>
          <a:prstGeom prst="rect">
            <a:avLst/>
          </a:prstGeom>
        </p:spPr>
      </p:pic>
      <p:sp>
        <p:nvSpPr>
          <p:cNvPr id="26" name="Key V"/>
          <p:cNvSpPr/>
          <p:nvPr/>
        </p:nvSpPr>
        <p:spPr>
          <a:xfrm>
            <a:off x="6858000" y="35661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Key label V"/>
          <p:cNvSpPr txBox="1"/>
          <p:nvPr/>
        </p:nvSpPr>
        <p:spPr>
          <a:xfrm>
            <a:off x="6858000" y="3566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</a:t>
            </a:r>
            <a:endParaRPr lang="en-US" sz="2000" dirty="0"/>
          </a:p>
        </p:txBody>
      </p:sp>
      <p:sp>
        <p:nvSpPr>
          <p:cNvPr id="28" name="Key B"/>
          <p:cNvSpPr/>
          <p:nvPr/>
        </p:nvSpPr>
        <p:spPr>
          <a:xfrm>
            <a:off x="7772400" y="3566160"/>
            <a:ext cx="77724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Key label B"/>
          <p:cNvSpPr txBox="1"/>
          <p:nvPr/>
        </p:nvSpPr>
        <p:spPr>
          <a:xfrm>
            <a:off x="7772400" y="3566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Introduction</a:t>
            </a:r>
            <a:endParaRPr lang="en-US" sz="3400" dirty="0"/>
          </a:p>
        </p:txBody>
      </p:sp>
      <p:sp>
        <p:nvSpPr>
          <p:cNvPr id="3" name="Keyboard hooks are everywhere tile"/>
          <p:cNvSpPr/>
          <p:nvPr/>
        </p:nvSpPr>
        <p:spPr>
          <a:xfrm>
            <a:off x="457200" y="128016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" name="Keyboard hooks are everywhere icon" descr="Keyboard hooks are everywhe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" y="1421892"/>
            <a:ext cx="283464" cy="283464"/>
          </a:xfrm>
          <a:prstGeom prst="rect">
            <a:avLst/>
          </a:prstGeom>
        </p:spPr>
      </p:pic>
      <p:sp>
        <p:nvSpPr>
          <p:cNvPr id="5" name="Intro heading 1"/>
          <p:cNvSpPr txBox="1"/>
          <p:nvPr/>
        </p:nvSpPr>
        <p:spPr>
          <a:xfrm>
            <a:off x="1188720" y="12801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Keyboard hooks are everywhere</a:t>
            </a:r>
            <a:endParaRPr lang="en-US" sz="1700" dirty="0"/>
          </a:p>
        </p:txBody>
      </p:sp>
      <p:sp>
        <p:nvSpPr>
          <p:cNvPr id="6" name="Intro body 1"/>
          <p:cNvSpPr txBox="1"/>
          <p:nvPr/>
        </p:nvSpPr>
        <p:spPr>
          <a:xfrm>
            <a:off x="1188720" y="160934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Windows lets any program register a hook (SetWindowsHookEx) to see keystrokes. Hotkeys, overlays and accessibility tools rely on it.</a:t>
            </a:r>
            <a:endParaRPr lang="en-US" sz="1400" dirty="0"/>
          </a:p>
        </p:txBody>
      </p:sp>
      <p:sp>
        <p:nvSpPr>
          <p:cNvPr id="7" name="Keyloggers abuse the same API tile"/>
          <p:cNvSpPr/>
          <p:nvPr/>
        </p:nvSpPr>
        <p:spPr>
          <a:xfrm>
            <a:off x="457200" y="242316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8" name="Keyloggers abuse the same API icon" descr="Keyloggers abuse the same AP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" y="2564892"/>
            <a:ext cx="283464" cy="283464"/>
          </a:xfrm>
          <a:prstGeom prst="rect">
            <a:avLst/>
          </a:prstGeom>
        </p:spPr>
      </p:pic>
      <p:sp>
        <p:nvSpPr>
          <p:cNvPr id="9" name="Intro heading 2"/>
          <p:cNvSpPr txBox="1"/>
          <p:nvPr/>
        </p:nvSpPr>
        <p:spPr>
          <a:xfrm>
            <a:off x="1188720" y="24231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Keyloggers abuse the same API</a:t>
            </a:r>
            <a:endParaRPr lang="en-US" sz="1700" dirty="0"/>
          </a:p>
        </p:txBody>
      </p:sp>
      <p:sp>
        <p:nvSpPr>
          <p:cNvPr id="10" name="Intro body 2"/>
          <p:cNvSpPr txBox="1"/>
          <p:nvPr/>
        </p:nvSpPr>
        <p:spPr>
          <a:xfrm>
            <a:off x="1188720" y="275234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MITRE ATT&amp;CK T1056.001 (Input Capture: Keylogging) steals passwords and messages through hooks and key-state polling.</a:t>
            </a:r>
            <a:endParaRPr lang="en-US" sz="1400" dirty="0"/>
          </a:p>
        </p:txBody>
      </p:sp>
      <p:sp>
        <p:nvSpPr>
          <p:cNvPr id="11" name="Our approach: observe, don't intercept tile"/>
          <p:cNvSpPr/>
          <p:nvPr/>
        </p:nvSpPr>
        <p:spPr>
          <a:xfrm>
            <a:off x="457200" y="356616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2" name="Our approach: observe, don't intercept icon" descr="Our approach: observe, don't interce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" y="3707892"/>
            <a:ext cx="283464" cy="283464"/>
          </a:xfrm>
          <a:prstGeom prst="rect">
            <a:avLst/>
          </a:prstGeom>
        </p:spPr>
      </p:pic>
      <p:sp>
        <p:nvSpPr>
          <p:cNvPr id="13" name="Intro heading 3"/>
          <p:cNvSpPr txBox="1"/>
          <p:nvPr/>
        </p:nvSpPr>
        <p:spPr>
          <a:xfrm>
            <a:off x="1188720" y="35661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Our approach: observe, don't intercept</a:t>
            </a:r>
            <a:endParaRPr lang="en-US" sz="1700" dirty="0"/>
          </a:p>
        </p:txBody>
      </p:sp>
      <p:sp>
        <p:nvSpPr>
          <p:cNvPr id="14" name="Intro body 3"/>
          <p:cNvSpPr txBox="1"/>
          <p:nvPr/>
        </p:nvSpPr>
        <p:spPr>
          <a:xfrm>
            <a:off x="1188720" y="389534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read-only, user-mode monitor that scores risk over time. No keystroke capture, no injection, no kernel code.</a:t>
            </a:r>
            <a:endParaRPr lang="en-US" sz="1400" dirty="0"/>
          </a:p>
        </p:txBody>
      </p:sp>
      <p:sp>
        <p:nvSpPr>
          <p:cNvPr id="15" name="Pipeline panel"/>
          <p:cNvSpPr/>
          <p:nvPr/>
        </p:nvSpPr>
        <p:spPr>
          <a:xfrm>
            <a:off x="5669280" y="1280160"/>
            <a:ext cx="3017520" cy="333756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Pipeline label"/>
          <p:cNvSpPr txBox="1"/>
          <p:nvPr/>
        </p:nvSpPr>
        <p:spPr>
          <a:xfrm>
            <a:off x="5943600" y="14630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THE PIPELINE</a:t>
            </a:r>
            <a:endParaRPr lang="en-US" sz="1100" dirty="0"/>
          </a:p>
        </p:txBody>
      </p:sp>
      <p:sp>
        <p:nvSpPr>
          <p:cNvPr id="17" name="Step dot 1"/>
          <p:cNvSpPr/>
          <p:nvPr/>
        </p:nvSpPr>
        <p:spPr>
          <a:xfrm>
            <a:off x="5943600" y="186537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tep num 1"/>
          <p:cNvSpPr txBox="1"/>
          <p:nvPr/>
        </p:nvSpPr>
        <p:spPr>
          <a:xfrm>
            <a:off x="5943600" y="1865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Step title 1"/>
          <p:cNvSpPr txBox="1"/>
          <p:nvPr/>
        </p:nvSpPr>
        <p:spPr>
          <a:xfrm>
            <a:off x="6446520" y="18288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Capability</a:t>
            </a:r>
            <a:endParaRPr lang="en-US" sz="1500" dirty="0"/>
          </a:p>
        </p:txBody>
      </p:sp>
      <p:sp>
        <p:nvSpPr>
          <p:cNvPr id="20" name="Step caption 1"/>
          <p:cNvSpPr txBox="1"/>
          <p:nvPr/>
        </p:nvSpPr>
        <p:spPr>
          <a:xfrm>
            <a:off x="6446520" y="20665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who can hook?</a:t>
            </a:r>
            <a:endParaRPr lang="en-US" sz="1200" dirty="0"/>
          </a:p>
        </p:txBody>
      </p:sp>
      <p:sp>
        <p:nvSpPr>
          <p:cNvPr id="21" name="Step dot 2"/>
          <p:cNvSpPr/>
          <p:nvPr/>
        </p:nvSpPr>
        <p:spPr>
          <a:xfrm>
            <a:off x="5943600" y="255117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Step num 2"/>
          <p:cNvSpPr txBox="1"/>
          <p:nvPr/>
        </p:nvSpPr>
        <p:spPr>
          <a:xfrm>
            <a:off x="5943600" y="2551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tep title 2"/>
          <p:cNvSpPr txBox="1"/>
          <p:nvPr/>
        </p:nvSpPr>
        <p:spPr>
          <a:xfrm>
            <a:off x="6446520" y="25146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Behavior</a:t>
            </a:r>
            <a:endParaRPr lang="en-US" sz="1500" dirty="0"/>
          </a:p>
        </p:txBody>
      </p:sp>
      <p:sp>
        <p:nvSpPr>
          <p:cNvPr id="24" name="Step caption 2"/>
          <p:cNvSpPr txBox="1"/>
          <p:nvPr/>
        </p:nvSpPr>
        <p:spPr>
          <a:xfrm>
            <a:off x="6446520" y="27523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what changes?</a:t>
            </a:r>
            <a:endParaRPr lang="en-US" sz="1200" dirty="0"/>
          </a:p>
        </p:txBody>
      </p:sp>
      <p:sp>
        <p:nvSpPr>
          <p:cNvPr id="25" name="Step dot 3"/>
          <p:cNvSpPr/>
          <p:nvPr/>
        </p:nvSpPr>
        <p:spPr>
          <a:xfrm>
            <a:off x="5943600" y="323697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Step num 3"/>
          <p:cNvSpPr txBox="1"/>
          <p:nvPr/>
        </p:nvSpPr>
        <p:spPr>
          <a:xfrm>
            <a:off x="5943600" y="3236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tep title 3"/>
          <p:cNvSpPr txBox="1"/>
          <p:nvPr/>
        </p:nvSpPr>
        <p:spPr>
          <a:xfrm>
            <a:off x="6446520" y="32004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Persistence</a:t>
            </a:r>
            <a:endParaRPr lang="en-US" sz="1500" dirty="0"/>
          </a:p>
        </p:txBody>
      </p:sp>
      <p:sp>
        <p:nvSpPr>
          <p:cNvPr id="28" name="Step caption 3"/>
          <p:cNvSpPr txBox="1"/>
          <p:nvPr/>
        </p:nvSpPr>
        <p:spPr>
          <a:xfrm>
            <a:off x="6446520" y="34381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does it keep happening?</a:t>
            </a:r>
            <a:endParaRPr lang="en-US" sz="1200" dirty="0"/>
          </a:p>
        </p:txBody>
      </p:sp>
      <p:sp>
        <p:nvSpPr>
          <p:cNvPr id="29" name="Step dot 4"/>
          <p:cNvSpPr/>
          <p:nvPr/>
        </p:nvSpPr>
        <p:spPr>
          <a:xfrm>
            <a:off x="5943600" y="392277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Step num 4"/>
          <p:cNvSpPr txBox="1"/>
          <p:nvPr/>
        </p:nvSpPr>
        <p:spPr>
          <a:xfrm>
            <a:off x="5943600" y="3922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tep title 4"/>
          <p:cNvSpPr txBox="1"/>
          <p:nvPr/>
        </p:nvSpPr>
        <p:spPr>
          <a:xfrm>
            <a:off x="6446520" y="38862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Explainable risk</a:t>
            </a:r>
            <a:endParaRPr lang="en-US" sz="1500" dirty="0"/>
          </a:p>
        </p:txBody>
      </p:sp>
      <p:sp>
        <p:nvSpPr>
          <p:cNvPr id="32" name="Step caption 4"/>
          <p:cNvSpPr txBox="1"/>
          <p:nvPr/>
        </p:nvSpPr>
        <p:spPr>
          <a:xfrm>
            <a:off x="6446520" y="41239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LOW / MEDIUM / HIGH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Problem Definition</a:t>
            </a:r>
            <a:endParaRPr lang="en-US" sz="3400" dirty="0"/>
          </a:p>
        </p:txBody>
      </p:sp>
      <p:sp>
        <p:nvSpPr>
          <p:cNvPr id="3" name="Problem statement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Hook-capable processes are common and mostly benign, yet the same capability powers keyloggers. How do we flag the dangerous few without drowning users in false alarms?</a:t>
            </a:r>
            <a:endParaRPr lang="en-US" sz="1700" dirty="0"/>
          </a:p>
        </p:txBody>
      </p:sp>
      <p:sp>
        <p:nvSpPr>
          <p:cNvPr id="4" name="Challenge card 1"/>
          <p:cNvSpPr/>
          <p:nvPr/>
        </p:nvSpPr>
        <p:spPr>
          <a:xfrm>
            <a:off x="457200" y="21031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apability is not intent tile"/>
          <p:cNvSpPr/>
          <p:nvPr/>
        </p:nvSpPr>
        <p:spPr>
          <a:xfrm>
            <a:off x="640080" y="22860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Capability is not intent icon" descr="Capability is not i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2411730"/>
            <a:ext cx="251460" cy="251460"/>
          </a:xfrm>
          <a:prstGeom prst="rect">
            <a:avLst/>
          </a:prstGeom>
        </p:spPr>
      </p:pic>
      <p:sp>
        <p:nvSpPr>
          <p:cNvPr id="7" name="Challenge title 1"/>
          <p:cNvSpPr txBox="1"/>
          <p:nvPr/>
        </p:nvSpPr>
        <p:spPr>
          <a:xfrm>
            <a:off x="1325880" y="2258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Capability is not intent</a:t>
            </a:r>
            <a:endParaRPr lang="en-US" sz="1600" dirty="0"/>
          </a:p>
        </p:txBody>
      </p:sp>
      <p:sp>
        <p:nvSpPr>
          <p:cNvPr id="8" name="Challenge body 1"/>
          <p:cNvSpPr txBox="1"/>
          <p:nvPr/>
        </p:nvSpPr>
        <p:spPr>
          <a:xfrm>
            <a:off x="1325880" y="2560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Discord, browsers, game overlays and accessibility tools all hook the keyboard.</a:t>
            </a:r>
            <a:endParaRPr lang="en-US" sz="1400" dirty="0"/>
          </a:p>
        </p:txBody>
      </p:sp>
      <p:sp>
        <p:nvSpPr>
          <p:cNvPr id="9" name="Challenge card 2"/>
          <p:cNvSpPr/>
          <p:nvPr/>
        </p:nvSpPr>
        <p:spPr>
          <a:xfrm>
            <a:off x="4663440" y="21031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One snapshot misleads tile"/>
          <p:cNvSpPr/>
          <p:nvPr/>
        </p:nvSpPr>
        <p:spPr>
          <a:xfrm>
            <a:off x="4846320" y="22860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One snapshot misleads icon" descr="One snapshot mislead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2411730"/>
            <a:ext cx="251460" cy="251460"/>
          </a:xfrm>
          <a:prstGeom prst="rect">
            <a:avLst/>
          </a:prstGeom>
        </p:spPr>
      </p:pic>
      <p:sp>
        <p:nvSpPr>
          <p:cNvPr id="12" name="Challenge title 2"/>
          <p:cNvSpPr txBox="1"/>
          <p:nvPr/>
        </p:nvSpPr>
        <p:spPr>
          <a:xfrm>
            <a:off x="5532120" y="2258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 snapshot misleads</a:t>
            </a:r>
            <a:endParaRPr lang="en-US" sz="1600" dirty="0"/>
          </a:p>
        </p:txBody>
      </p:sp>
      <p:sp>
        <p:nvSpPr>
          <p:cNvPr id="13" name="Challenge body 2"/>
          <p:cNvSpPr txBox="1"/>
          <p:nvPr/>
        </p:nvSpPr>
        <p:spPr>
          <a:xfrm>
            <a:off x="5532120" y="2560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single observation can't separate a brief benign event from sustained suspicious behavior.</a:t>
            </a:r>
            <a:endParaRPr lang="en-US" sz="1400" dirty="0"/>
          </a:p>
        </p:txBody>
      </p:sp>
      <p:sp>
        <p:nvSpPr>
          <p:cNvPr id="14" name="Challenge card 3"/>
          <p:cNvSpPr/>
          <p:nvPr/>
        </p:nvSpPr>
        <p:spPr>
          <a:xfrm>
            <a:off x="457200" y="3474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ignatures miss the new tile"/>
          <p:cNvSpPr/>
          <p:nvPr/>
        </p:nvSpPr>
        <p:spPr>
          <a:xfrm>
            <a:off x="640080" y="3657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Signatures miss the new icon" descr="Signatures miss the n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783330"/>
            <a:ext cx="251460" cy="251460"/>
          </a:xfrm>
          <a:prstGeom prst="rect">
            <a:avLst/>
          </a:prstGeom>
        </p:spPr>
      </p:pic>
      <p:sp>
        <p:nvSpPr>
          <p:cNvPr id="17" name="Challenge title 3"/>
          <p:cNvSpPr txBox="1"/>
          <p:nvPr/>
        </p:nvSpPr>
        <p:spPr>
          <a:xfrm>
            <a:off x="132588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Signatures miss the new</a:t>
            </a:r>
            <a:endParaRPr lang="en-US" sz="1600" dirty="0"/>
          </a:p>
        </p:txBody>
      </p:sp>
      <p:sp>
        <p:nvSpPr>
          <p:cNvPr id="18" name="Challenge body 3"/>
          <p:cNvSpPr txBox="1"/>
          <p:nvPr/>
        </p:nvSpPr>
        <p:spPr>
          <a:xfrm>
            <a:off x="132588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Hash and name matching fail against unseen variants and repacked binaries.</a:t>
            </a:r>
            <a:endParaRPr lang="en-US" sz="1400" dirty="0"/>
          </a:p>
        </p:txBody>
      </p:sp>
      <p:sp>
        <p:nvSpPr>
          <p:cNvPr id="19" name="Challenge card 4"/>
          <p:cNvSpPr/>
          <p:nvPr/>
        </p:nvSpPr>
        <p:spPr>
          <a:xfrm>
            <a:off x="4663440" y="3474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Black boxes erode trust tile"/>
          <p:cNvSpPr/>
          <p:nvPr/>
        </p:nvSpPr>
        <p:spPr>
          <a:xfrm>
            <a:off x="4846320" y="365760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Black boxes erode trust icon" descr="Black boxes erode tru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050" y="3783330"/>
            <a:ext cx="251460" cy="251460"/>
          </a:xfrm>
          <a:prstGeom prst="rect">
            <a:avLst/>
          </a:prstGeom>
        </p:spPr>
      </p:pic>
      <p:sp>
        <p:nvSpPr>
          <p:cNvPr id="22" name="Challenge title 4"/>
          <p:cNvSpPr txBox="1"/>
          <p:nvPr/>
        </p:nvSpPr>
        <p:spPr>
          <a:xfrm>
            <a:off x="5532120" y="3630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Black boxes erode trust</a:t>
            </a:r>
            <a:endParaRPr lang="en-US" sz="1600" dirty="0"/>
          </a:p>
        </p:txBody>
      </p:sp>
      <p:sp>
        <p:nvSpPr>
          <p:cNvPr id="23" name="Challenge body 4"/>
          <p:cNvSpPr txBox="1"/>
          <p:nvPr/>
        </p:nvSpPr>
        <p:spPr>
          <a:xfrm>
            <a:off x="553212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bare 'malware: 97%' verdict can't be audited, tuned or defended to a user.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Literature Survey: Keylogger Detection</a:t>
            </a:r>
            <a:endParaRPr lang="en-US" sz="3400" dirty="0"/>
          </a:p>
        </p:txBody>
      </p:sp>
      <p:sp>
        <p:nvSpPr>
          <p:cNvPr id="3" name="Column header WORK"/>
          <p:cNvSpPr txBox="1"/>
          <p:nvPr/>
        </p:nvSpPr>
        <p:spPr>
          <a:xfrm>
            <a:off x="123444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WORK</a:t>
            </a:r>
            <a:endParaRPr lang="en-US" sz="1100" dirty="0"/>
          </a:p>
        </p:txBody>
      </p:sp>
      <p:sp>
        <p:nvSpPr>
          <p:cNvPr id="4" name="Column header APPROACH"/>
          <p:cNvSpPr txBox="1"/>
          <p:nvPr/>
        </p:nvSpPr>
        <p:spPr>
          <a:xfrm>
            <a:off x="3200400" y="1170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APPROACH</a:t>
            </a:r>
            <a:endParaRPr lang="en-US" sz="1100" dirty="0"/>
          </a:p>
        </p:txBody>
      </p:sp>
      <p:sp>
        <p:nvSpPr>
          <p:cNvPr id="5" name="Column header GAP WE ADDRESS"/>
          <p:cNvSpPr txBox="1"/>
          <p:nvPr/>
        </p:nvSpPr>
        <p:spPr>
          <a:xfrm>
            <a:off x="6080760" y="117043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GAP WE ADDRESS</a:t>
            </a:r>
            <a:endParaRPr lang="en-US" sz="1100" dirty="0"/>
          </a:p>
        </p:txBody>
      </p:sp>
      <p:sp>
        <p:nvSpPr>
          <p:cNvPr id="6" name="Survey row 1"/>
          <p:cNvSpPr/>
          <p:nvPr/>
        </p:nvSpPr>
        <p:spPr>
          <a:xfrm>
            <a:off x="457200" y="14630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Ortolani et al.  [1] tile"/>
          <p:cNvSpPr/>
          <p:nvPr/>
        </p:nvSpPr>
        <p:spPr>
          <a:xfrm>
            <a:off x="594360" y="169164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8" name="Ortolani et al.  [1] icon" descr="Ortolani et al.  [1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817370"/>
            <a:ext cx="251460" cy="251460"/>
          </a:xfrm>
          <a:prstGeom prst="rect">
            <a:avLst/>
          </a:prstGeom>
        </p:spPr>
      </p:pic>
      <p:sp>
        <p:nvSpPr>
          <p:cNvPr id="9" name="Work 1"/>
          <p:cNvSpPr txBox="1"/>
          <p:nvPr/>
        </p:nvSpPr>
        <p:spPr>
          <a:xfrm>
            <a:off x="1234440" y="157276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Ortolani et al.  [1]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Bait Your Hook, 2010</a:t>
            </a:r>
            <a:endParaRPr lang="en-US" sz="1400" dirty="0"/>
          </a:p>
        </p:txBody>
      </p:sp>
      <p:sp>
        <p:nvSpPr>
          <p:cNvPr id="10" name="Approach 1"/>
          <p:cNvSpPr txBox="1"/>
          <p:nvPr/>
        </p:nvSpPr>
        <p:spPr>
          <a:xfrm>
            <a:off x="3200400" y="1554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Injects synthetic keystrokes and watches how processes react.</a:t>
            </a:r>
            <a:endParaRPr lang="en-US" sz="1400" dirty="0"/>
          </a:p>
        </p:txBody>
      </p:sp>
      <p:sp>
        <p:nvSpPr>
          <p:cNvPr id="11" name="Gap 1"/>
          <p:cNvSpPr txBox="1"/>
          <p:nvPr/>
        </p:nvSpPr>
        <p:spPr>
          <a:xfrm>
            <a:off x="6080760" y="15544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Needs active probing; no trust or history.</a:t>
            </a:r>
            <a:endParaRPr lang="en-US" sz="1400" dirty="0"/>
          </a:p>
        </p:txBody>
      </p:sp>
      <p:sp>
        <p:nvSpPr>
          <p:cNvPr id="12" name="Survey row 2"/>
          <p:cNvSpPr/>
          <p:nvPr/>
        </p:nvSpPr>
        <p:spPr>
          <a:xfrm>
            <a:off x="457200" y="2542032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Ortolani et al.  [2] tile"/>
          <p:cNvSpPr/>
          <p:nvPr/>
        </p:nvSpPr>
        <p:spPr>
          <a:xfrm>
            <a:off x="594360" y="2770632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Ortolani et al.  [2] icon" descr="Ortolani et al.  [2]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896362"/>
            <a:ext cx="251460" cy="251460"/>
          </a:xfrm>
          <a:prstGeom prst="rect">
            <a:avLst/>
          </a:prstGeom>
        </p:spPr>
      </p:pic>
      <p:sp>
        <p:nvSpPr>
          <p:cNvPr id="15" name="Work 2"/>
          <p:cNvSpPr txBox="1"/>
          <p:nvPr/>
        </p:nvSpPr>
        <p:spPr>
          <a:xfrm>
            <a:off x="123444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Ortolani et al.  [2]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KLIMAX, 2011</a:t>
            </a:r>
            <a:endParaRPr lang="en-US" sz="1400" dirty="0"/>
          </a:p>
        </p:txBody>
      </p:sp>
      <p:sp>
        <p:nvSpPr>
          <p:cNvPr id="16" name="Approach 2"/>
          <p:cNvSpPr txBox="1"/>
          <p:nvPr/>
        </p:nvSpPr>
        <p:spPr>
          <a:xfrm>
            <a:off x="320040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Profiles memory write patterns to spot keystroke-harvesting malware.</a:t>
            </a:r>
            <a:endParaRPr lang="en-US" sz="1400" dirty="0"/>
          </a:p>
        </p:txBody>
      </p:sp>
      <p:sp>
        <p:nvSpPr>
          <p:cNvPr id="17" name="Gap 2"/>
          <p:cNvSpPr txBox="1"/>
          <p:nvPr/>
        </p:nvSpPr>
        <p:spPr>
          <a:xfrm>
            <a:off x="6080760" y="263347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Dynamic only; no static capability evidence.</a:t>
            </a:r>
            <a:endParaRPr lang="en-US" sz="1400" dirty="0"/>
          </a:p>
        </p:txBody>
      </p:sp>
      <p:sp>
        <p:nvSpPr>
          <p:cNvPr id="18" name="Survey row 3"/>
          <p:cNvSpPr/>
          <p:nvPr/>
        </p:nvSpPr>
        <p:spPr>
          <a:xfrm>
            <a:off x="457200" y="3621024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MITRE ATT&amp;CK  [3] tile"/>
          <p:cNvSpPr/>
          <p:nvPr/>
        </p:nvSpPr>
        <p:spPr>
          <a:xfrm>
            <a:off x="594360" y="3849624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MITRE ATT&amp;CK  [3] icon" descr="MITRE ATT&amp;CK  [3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975354"/>
            <a:ext cx="251460" cy="251460"/>
          </a:xfrm>
          <a:prstGeom prst="rect">
            <a:avLst/>
          </a:prstGeom>
        </p:spPr>
      </p:pic>
      <p:sp>
        <p:nvSpPr>
          <p:cNvPr id="21" name="Work 3"/>
          <p:cNvSpPr txBox="1"/>
          <p:nvPr/>
        </p:nvSpPr>
        <p:spPr>
          <a:xfrm>
            <a:off x="1234440" y="373075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MITRE ATT&amp;CK  [3]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T1056.001, Keylogging</a:t>
            </a:r>
            <a:endParaRPr lang="en-US" sz="1400" dirty="0"/>
          </a:p>
        </p:txBody>
      </p:sp>
      <p:sp>
        <p:nvSpPr>
          <p:cNvPr id="22" name="Approach 3"/>
          <p:cNvSpPr txBox="1"/>
          <p:nvPr/>
        </p:nvSpPr>
        <p:spPr>
          <a:xfrm>
            <a:off x="3200400" y="371246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Catalogues keylogging techniques: hooking, polling, raw input.</a:t>
            </a:r>
            <a:endParaRPr lang="en-US" sz="1400" dirty="0"/>
          </a:p>
        </p:txBody>
      </p:sp>
      <p:sp>
        <p:nvSpPr>
          <p:cNvPr id="23" name="Gap 3"/>
          <p:cNvSpPr txBox="1"/>
          <p:nvPr/>
        </p:nvSpPr>
        <p:spPr>
          <a:xfrm>
            <a:off x="6080760" y="371246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taxonomy, not a detector, so we map APIs to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Literature Survey: ML on Executables</a:t>
            </a:r>
            <a:endParaRPr lang="en-US" sz="3400" dirty="0"/>
          </a:p>
        </p:txBody>
      </p:sp>
      <p:sp>
        <p:nvSpPr>
          <p:cNvPr id="3" name="Column header WORK"/>
          <p:cNvSpPr txBox="1"/>
          <p:nvPr/>
        </p:nvSpPr>
        <p:spPr>
          <a:xfrm>
            <a:off x="123444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WORK</a:t>
            </a:r>
            <a:endParaRPr lang="en-US" sz="1100" dirty="0"/>
          </a:p>
        </p:txBody>
      </p:sp>
      <p:sp>
        <p:nvSpPr>
          <p:cNvPr id="4" name="Column header APPROACH"/>
          <p:cNvSpPr txBox="1"/>
          <p:nvPr/>
        </p:nvSpPr>
        <p:spPr>
          <a:xfrm>
            <a:off x="3200400" y="1170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APPROACH</a:t>
            </a:r>
            <a:endParaRPr lang="en-US" sz="1100" dirty="0"/>
          </a:p>
        </p:txBody>
      </p:sp>
      <p:sp>
        <p:nvSpPr>
          <p:cNvPr id="5" name="Column header GAP WE ADDRESS"/>
          <p:cNvSpPr txBox="1"/>
          <p:nvPr/>
        </p:nvSpPr>
        <p:spPr>
          <a:xfrm>
            <a:off x="6080760" y="117043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GAP WE ADDRESS</a:t>
            </a:r>
            <a:endParaRPr lang="en-US" sz="1100" dirty="0"/>
          </a:p>
        </p:txBody>
      </p:sp>
      <p:sp>
        <p:nvSpPr>
          <p:cNvPr id="6" name="Survey row 1"/>
          <p:cNvSpPr/>
          <p:nvPr/>
        </p:nvSpPr>
        <p:spPr>
          <a:xfrm>
            <a:off x="457200" y="14630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Kumar et al.  [4] tile"/>
          <p:cNvSpPr/>
          <p:nvPr/>
        </p:nvSpPr>
        <p:spPr>
          <a:xfrm>
            <a:off x="594360" y="169164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8" name="Kumar et al.  [4] icon" descr="Kumar et al.  [4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817370"/>
            <a:ext cx="251460" cy="251460"/>
          </a:xfrm>
          <a:prstGeom prst="rect">
            <a:avLst/>
          </a:prstGeom>
        </p:spPr>
      </p:pic>
      <p:sp>
        <p:nvSpPr>
          <p:cNvPr id="9" name="Work 1"/>
          <p:cNvSpPr txBox="1"/>
          <p:nvPr/>
        </p:nvSpPr>
        <p:spPr>
          <a:xfrm>
            <a:off x="1234440" y="157276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Kumar et al.  [4]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ClaMP dataset, 2019</a:t>
            </a:r>
            <a:endParaRPr lang="en-US" sz="1400" dirty="0"/>
          </a:p>
        </p:txBody>
      </p:sp>
      <p:sp>
        <p:nvSpPr>
          <p:cNvPr id="10" name="Approach 1"/>
          <p:cNvSpPr txBox="1"/>
          <p:nvPr/>
        </p:nvSpPr>
        <p:spPr>
          <a:xfrm>
            <a:off x="3200400" y="1554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Classifies malware from integrated PE-header features.</a:t>
            </a:r>
            <a:endParaRPr lang="en-US" sz="1400" dirty="0"/>
          </a:p>
        </p:txBody>
      </p:sp>
      <p:sp>
        <p:nvSpPr>
          <p:cNvPr id="11" name="Gap 1"/>
          <p:cNvSpPr txBox="1"/>
          <p:nvPr/>
        </p:nvSpPr>
        <p:spPr>
          <a:xfrm>
            <a:off x="6080760" y="15544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General malware verdict, not keylogger-specific.</a:t>
            </a:r>
            <a:endParaRPr lang="en-US" sz="1400" dirty="0"/>
          </a:p>
        </p:txBody>
      </p:sp>
      <p:sp>
        <p:nvSpPr>
          <p:cNvPr id="12" name="Survey row 2"/>
          <p:cNvSpPr/>
          <p:nvPr/>
        </p:nvSpPr>
        <p:spPr>
          <a:xfrm>
            <a:off x="457200" y="2542032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Anderson &amp; Roth  [5] tile"/>
          <p:cNvSpPr/>
          <p:nvPr/>
        </p:nvSpPr>
        <p:spPr>
          <a:xfrm>
            <a:off x="594360" y="2770632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nderson &amp; Roth  [5] icon" descr="Anderson &amp; Roth  [5]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896362"/>
            <a:ext cx="251460" cy="251460"/>
          </a:xfrm>
          <a:prstGeom prst="rect">
            <a:avLst/>
          </a:prstGeom>
        </p:spPr>
      </p:pic>
      <p:sp>
        <p:nvSpPr>
          <p:cNvPr id="15" name="Work 2"/>
          <p:cNvSpPr txBox="1"/>
          <p:nvPr/>
        </p:nvSpPr>
        <p:spPr>
          <a:xfrm>
            <a:off x="123444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Anderson &amp; Roth  [5]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EMBER, 2018</a:t>
            </a:r>
            <a:endParaRPr lang="en-US" sz="1400" dirty="0"/>
          </a:p>
        </p:txBody>
      </p:sp>
      <p:sp>
        <p:nvSpPr>
          <p:cNvPr id="16" name="Approach 2"/>
          <p:cNvSpPr txBox="1"/>
          <p:nvPr/>
        </p:nvSpPr>
        <p:spPr>
          <a:xfrm>
            <a:off x="3200400" y="26334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dataset and baseline for static PE malware ML.</a:t>
            </a:r>
            <a:endParaRPr lang="en-US" sz="1400" dirty="0"/>
          </a:p>
        </p:txBody>
      </p:sp>
      <p:sp>
        <p:nvSpPr>
          <p:cNvPr id="17" name="Gap 2"/>
          <p:cNvSpPr txBox="1"/>
          <p:nvPr/>
        </p:nvSpPr>
        <p:spPr>
          <a:xfrm>
            <a:off x="6080760" y="263347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One file, one score: no behavior over time.</a:t>
            </a:r>
            <a:endParaRPr lang="en-US" sz="1400" dirty="0"/>
          </a:p>
        </p:txBody>
      </p:sp>
      <p:sp>
        <p:nvSpPr>
          <p:cNvPr id="18" name="Survey row 3"/>
          <p:cNvSpPr/>
          <p:nvPr/>
        </p:nvSpPr>
        <p:spPr>
          <a:xfrm>
            <a:off x="457200" y="3621024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Raff et al.  [6] tile"/>
          <p:cNvSpPr/>
          <p:nvPr/>
        </p:nvSpPr>
        <p:spPr>
          <a:xfrm>
            <a:off x="594360" y="3849624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Raff et al.  [6] icon" descr="Raff et al.  [6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975354"/>
            <a:ext cx="251460" cy="251460"/>
          </a:xfrm>
          <a:prstGeom prst="rect">
            <a:avLst/>
          </a:prstGeom>
        </p:spPr>
      </p:pic>
      <p:sp>
        <p:nvSpPr>
          <p:cNvPr id="21" name="Work 3"/>
          <p:cNvSpPr txBox="1"/>
          <p:nvPr/>
        </p:nvSpPr>
        <p:spPr>
          <a:xfrm>
            <a:off x="1234440" y="373075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Raff et al.  [6]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MalConv, 2018</a:t>
            </a:r>
            <a:endParaRPr lang="en-US" sz="1400" dirty="0"/>
          </a:p>
        </p:txBody>
      </p:sp>
      <p:sp>
        <p:nvSpPr>
          <p:cNvPr id="22" name="Approach 3"/>
          <p:cNvSpPr txBox="1"/>
          <p:nvPr/>
        </p:nvSpPr>
        <p:spPr>
          <a:xfrm>
            <a:off x="3200400" y="371246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Convolutional network trained on raw executable bytes.</a:t>
            </a:r>
            <a:endParaRPr lang="en-US" sz="1400" dirty="0"/>
          </a:p>
        </p:txBody>
      </p:sp>
      <p:sp>
        <p:nvSpPr>
          <p:cNvPr id="23" name="Gap 3"/>
          <p:cNvSpPr txBox="1"/>
          <p:nvPr/>
        </p:nvSpPr>
        <p:spPr>
          <a:xfrm>
            <a:off x="6080760" y="371246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Accurate but opaque; hard to explain.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Inferences from the Survey</a:t>
            </a:r>
            <a:endParaRPr lang="en-US" sz="3400" dirty="0"/>
          </a:p>
        </p:txBody>
      </p:sp>
      <p:sp>
        <p:nvSpPr>
          <p:cNvPr id="3" name="Observation header"/>
          <p:cNvSpPr txBox="1"/>
          <p:nvPr/>
        </p:nvSpPr>
        <p:spPr>
          <a:xfrm>
            <a:off x="822960" y="11704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WHAT THE LITERATURE SHOWS</a:t>
            </a:r>
            <a:endParaRPr lang="en-US" sz="1100" dirty="0"/>
          </a:p>
        </p:txBody>
      </p:sp>
      <p:sp>
        <p:nvSpPr>
          <p:cNvPr id="4" name="Decision header"/>
          <p:cNvSpPr txBox="1"/>
          <p:nvPr/>
        </p:nvSpPr>
        <p:spPr>
          <a:xfrm>
            <a:off x="5074920" y="11704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WHAT WE DECIDED</a:t>
            </a:r>
            <a:endParaRPr lang="en-US" sz="1100" dirty="0"/>
          </a:p>
        </p:txBody>
      </p:sp>
      <p:sp>
        <p:nvSpPr>
          <p:cNvPr id="5" name="Inference dot 1"/>
          <p:cNvSpPr/>
          <p:nvPr/>
        </p:nvSpPr>
        <p:spPr>
          <a:xfrm>
            <a:off x="457200" y="161848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Inference num 1"/>
          <p:cNvSpPr txBox="1"/>
          <p:nvPr/>
        </p:nvSpPr>
        <p:spPr>
          <a:xfrm>
            <a:off x="45720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Observation 1"/>
          <p:cNvSpPr/>
          <p:nvPr/>
        </p:nvSpPr>
        <p:spPr>
          <a:xfrm>
            <a:off x="960120" y="1463040"/>
            <a:ext cx="3611880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Observation text 1"/>
          <p:cNvSpPr txBox="1"/>
          <p:nvPr/>
        </p:nvSpPr>
        <p:spPr>
          <a:xfrm>
            <a:off x="1097280" y="1463040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Dynamic keylogger detectors work, but are intrusive and heavyweight.</a:t>
            </a:r>
            <a:endParaRPr lang="en-US" sz="1400" dirty="0"/>
          </a:p>
        </p:txBody>
      </p:sp>
      <p:pic>
        <p:nvPicPr>
          <p:cNvPr id="9" name="Arrow 1" descr="leads 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64208"/>
            <a:ext cx="274320" cy="274320"/>
          </a:xfrm>
          <a:prstGeom prst="rect">
            <a:avLst/>
          </a:prstGeom>
        </p:spPr>
      </p:pic>
      <p:sp>
        <p:nvSpPr>
          <p:cNvPr id="10" name="Decision 1"/>
          <p:cNvSpPr/>
          <p:nvPr/>
        </p:nvSpPr>
        <p:spPr>
          <a:xfrm>
            <a:off x="5029200" y="1463040"/>
            <a:ext cx="3657600" cy="694944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Decision text 1"/>
          <p:cNvSpPr txBox="1"/>
          <p:nvPr/>
        </p:nvSpPr>
        <p:spPr>
          <a:xfrm>
            <a:off x="5166360" y="1463040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Stay passive: read-only, user-mode observation.</a:t>
            </a:r>
            <a:endParaRPr lang="en-US" sz="1400" dirty="0"/>
          </a:p>
        </p:txBody>
      </p:sp>
      <p:sp>
        <p:nvSpPr>
          <p:cNvPr id="12" name="Inference dot 2"/>
          <p:cNvSpPr/>
          <p:nvPr/>
        </p:nvSpPr>
        <p:spPr>
          <a:xfrm>
            <a:off x="457200" y="24414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Inference num 2"/>
          <p:cNvSpPr txBox="1"/>
          <p:nvPr/>
        </p:nvSpPr>
        <p:spPr>
          <a:xfrm>
            <a:off x="45720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Observation 2"/>
          <p:cNvSpPr/>
          <p:nvPr/>
        </p:nvSpPr>
        <p:spPr>
          <a:xfrm>
            <a:off x="960120" y="2286000"/>
            <a:ext cx="3611880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Observation text 2"/>
          <p:cNvSpPr txBox="1"/>
          <p:nvPr/>
        </p:nvSpPr>
        <p:spPr>
          <a:xfrm>
            <a:off x="1097280" y="2286000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Static ML is accurate for malware, but not keylogger-specific.</a:t>
            </a:r>
            <a:endParaRPr lang="en-US" sz="1400" dirty="0"/>
          </a:p>
        </p:txBody>
      </p:sp>
      <p:pic>
        <p:nvPicPr>
          <p:cNvPr id="16" name="Arrow 2" descr="leads 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87168"/>
            <a:ext cx="274320" cy="274320"/>
          </a:xfrm>
          <a:prstGeom prst="rect">
            <a:avLst/>
          </a:prstGeom>
        </p:spPr>
      </p:pic>
      <p:sp>
        <p:nvSpPr>
          <p:cNvPr id="17" name="Decision 2"/>
          <p:cNvSpPr/>
          <p:nvPr/>
        </p:nvSpPr>
        <p:spPr>
          <a:xfrm>
            <a:off x="5029200" y="2286000"/>
            <a:ext cx="3657600" cy="694944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Decision text 2"/>
          <p:cNvSpPr txBox="1"/>
          <p:nvPr/>
        </p:nvSpPr>
        <p:spPr>
          <a:xfrm>
            <a:off x="5166360" y="2286000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Add an import-table fingerprint mapped to MITRE ATT&amp;CK.</a:t>
            </a:r>
            <a:endParaRPr lang="en-US" sz="1400" dirty="0"/>
          </a:p>
        </p:txBody>
      </p:sp>
      <p:sp>
        <p:nvSpPr>
          <p:cNvPr id="19" name="Inference dot 3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Inference num 3"/>
          <p:cNvSpPr txBox="1"/>
          <p:nvPr/>
        </p:nvSpPr>
        <p:spPr>
          <a:xfrm>
            <a:off x="457200" y="3264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Observation 3"/>
          <p:cNvSpPr/>
          <p:nvPr/>
        </p:nvSpPr>
        <p:spPr>
          <a:xfrm>
            <a:off x="960120" y="3108960"/>
            <a:ext cx="3611880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Observation text 3"/>
          <p:cNvSpPr txBox="1"/>
          <p:nvPr/>
        </p:nvSpPr>
        <p:spPr>
          <a:xfrm>
            <a:off x="1097280" y="3108960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One-shot verdicts and black boxes are hard to trust.</a:t>
            </a:r>
            <a:endParaRPr lang="en-US" sz="1400" dirty="0"/>
          </a:p>
        </p:txBody>
      </p:sp>
      <p:pic>
        <p:nvPicPr>
          <p:cNvPr id="23" name="Arrow 3" descr="leads 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310128"/>
            <a:ext cx="274320" cy="274320"/>
          </a:xfrm>
          <a:prstGeom prst="rect">
            <a:avLst/>
          </a:prstGeom>
        </p:spPr>
      </p:pic>
      <p:sp>
        <p:nvSpPr>
          <p:cNvPr id="24" name="Decision 3"/>
          <p:cNvSpPr/>
          <p:nvPr/>
        </p:nvSpPr>
        <p:spPr>
          <a:xfrm>
            <a:off x="5029200" y="3108960"/>
            <a:ext cx="3657600" cy="694944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Decision text 3"/>
          <p:cNvSpPr txBox="1"/>
          <p:nvPr/>
        </p:nvSpPr>
        <p:spPr>
          <a:xfrm>
            <a:off x="5166360" y="3108960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Score over time with a rule engine that explains itself.</a:t>
            </a:r>
            <a:endParaRPr lang="en-US" sz="1400" dirty="0"/>
          </a:p>
        </p:txBody>
      </p:sp>
      <p:sp>
        <p:nvSpPr>
          <p:cNvPr id="26" name="Inference dot 4"/>
          <p:cNvSpPr/>
          <p:nvPr/>
        </p:nvSpPr>
        <p:spPr>
          <a:xfrm>
            <a:off x="457200" y="408736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Inference num 4"/>
          <p:cNvSpPr txBox="1"/>
          <p:nvPr/>
        </p:nvSpPr>
        <p:spPr>
          <a:xfrm>
            <a:off x="45720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Observation 4"/>
          <p:cNvSpPr/>
          <p:nvPr/>
        </p:nvSpPr>
        <p:spPr>
          <a:xfrm>
            <a:off x="960120" y="3931920"/>
            <a:ext cx="3611880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Observation text 4"/>
          <p:cNvSpPr txBox="1"/>
          <p:nvPr/>
        </p:nvSpPr>
        <p:spPr>
          <a:xfrm>
            <a:off x="1097280" y="3931920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Hook capability is common in legitimate software.</a:t>
            </a:r>
            <a:endParaRPr lang="en-US" sz="1400" dirty="0"/>
          </a:p>
        </p:txBody>
      </p:sp>
      <p:pic>
        <p:nvPicPr>
          <p:cNvPr id="30" name="Arrow 4" descr="leads 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133088"/>
            <a:ext cx="274320" cy="274320"/>
          </a:xfrm>
          <a:prstGeom prst="rect">
            <a:avLst/>
          </a:prstGeom>
        </p:spPr>
      </p:pic>
      <p:sp>
        <p:nvSpPr>
          <p:cNvPr id="31" name="Decision 4"/>
          <p:cNvSpPr/>
          <p:nvPr/>
        </p:nvSpPr>
        <p:spPr>
          <a:xfrm>
            <a:off x="5029200" y="3931920"/>
            <a:ext cx="3657600" cy="694944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Decision text 4"/>
          <p:cNvSpPr txBox="1"/>
          <p:nvPr/>
        </p:nvSpPr>
        <p:spPr>
          <a:xfrm>
            <a:off x="5166360" y="3931920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ML may only amplify a rule trigger; add allowlist and decay.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Proposed System: Three Layers</a:t>
            </a:r>
            <a:endParaRPr lang="en-US" sz="3400" dirty="0"/>
          </a:p>
        </p:txBody>
      </p:sp>
      <p:sp>
        <p:nvSpPr>
          <p:cNvPr id="3" name="Layer card 1"/>
          <p:cNvSpPr/>
          <p:nvPr/>
        </p:nvSpPr>
        <p:spPr>
          <a:xfrm>
            <a:off x="457200" y="123444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ule engine tile"/>
          <p:cNvSpPr/>
          <p:nvPr/>
        </p:nvSpPr>
        <p:spPr>
          <a:xfrm>
            <a:off x="640080" y="14173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Rule engine icon" descr="Rule eng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Layer title 1"/>
          <p:cNvSpPr txBox="1"/>
          <p:nvPr/>
        </p:nvSpPr>
        <p:spPr>
          <a:xfrm>
            <a:off x="6400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Rule engine</a:t>
            </a:r>
            <a:endParaRPr lang="en-US" sz="1700" dirty="0"/>
          </a:p>
        </p:txBody>
      </p:sp>
      <p:sp>
        <p:nvSpPr>
          <p:cNvPr id="7" name="Layer question 1"/>
          <p:cNvSpPr txBox="1"/>
          <p:nvPr/>
        </p:nvSpPr>
        <p:spPr>
          <a:xfrm>
            <a:off x="640080" y="23957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Does it have hook capability, and does it persist?</a:t>
            </a:r>
            <a:endParaRPr lang="en-US" sz="1300" dirty="0"/>
          </a:p>
        </p:txBody>
      </p:sp>
      <p:sp>
        <p:nvSpPr>
          <p:cNvPr id="8" name="Layer facts 1"/>
          <p:cNvSpPr txBox="1"/>
          <p:nvPr/>
        </p:nvSpPr>
        <p:spPr>
          <a:xfrm>
            <a:off x="640080" y="30175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user32.dll + non-system DLLs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Signature status and SHA-256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weights, decay, allowlist</a:t>
            </a:r>
            <a:endParaRPr lang="en-US" sz="1300" dirty="0"/>
          </a:p>
        </p:txBody>
      </p:sp>
      <p:sp>
        <p:nvSpPr>
          <p:cNvPr id="9" name="Layer card 2"/>
          <p:cNvSpPr/>
          <p:nvPr/>
        </p:nvSpPr>
        <p:spPr>
          <a:xfrm>
            <a:off x="3291840" y="123444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Malware ML tile"/>
          <p:cNvSpPr/>
          <p:nvPr/>
        </p:nvSpPr>
        <p:spPr>
          <a:xfrm>
            <a:off x="3474720" y="14173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Malware ML icon" descr="Malware 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2" name="Layer title 2"/>
          <p:cNvSpPr txBox="1"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Malware ML</a:t>
            </a:r>
            <a:endParaRPr lang="en-US" sz="1700" dirty="0"/>
          </a:p>
        </p:txBody>
      </p:sp>
      <p:sp>
        <p:nvSpPr>
          <p:cNvPr id="13" name="Layer question 2"/>
          <p:cNvSpPr txBox="1"/>
          <p:nvPr/>
        </p:nvSpPr>
        <p:spPr>
          <a:xfrm>
            <a:off x="3474720" y="23957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Does its PE structure look like malware?</a:t>
            </a:r>
            <a:endParaRPr lang="en-US" sz="1300" dirty="0"/>
          </a:p>
        </p:txBody>
      </p:sp>
      <p:sp>
        <p:nvSpPr>
          <p:cNvPr id="14" name="Layer facts 2"/>
          <p:cNvSpPr txBox="1"/>
          <p:nvPr/>
        </p:nvSpPr>
        <p:spPr>
          <a:xfrm>
            <a:off x="3474720" y="30175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RandomForest, 67 features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5,210 labeled executables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~99% held-out accuracy</a:t>
            </a:r>
            <a:endParaRPr lang="en-US" sz="1300" dirty="0"/>
          </a:p>
        </p:txBody>
      </p:sp>
      <p:sp>
        <p:nvSpPr>
          <p:cNvPr id="15" name="Layer card 3"/>
          <p:cNvSpPr/>
          <p:nvPr/>
        </p:nvSpPr>
        <p:spPr>
          <a:xfrm>
            <a:off x="6126480" y="123444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PI fingerprint tile"/>
          <p:cNvSpPr/>
          <p:nvPr/>
        </p:nvSpPr>
        <p:spPr>
          <a:xfrm>
            <a:off x="6309360" y="14173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API fingerprint icon" descr="API fingerpri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8" name="Layer title 3"/>
          <p:cNvSpPr txBox="1"/>
          <p:nvPr/>
        </p:nvSpPr>
        <p:spPr>
          <a:xfrm>
            <a:off x="630936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API fingerprint</a:t>
            </a:r>
            <a:endParaRPr lang="en-US" sz="1700" dirty="0"/>
          </a:p>
        </p:txBody>
      </p:sp>
      <p:sp>
        <p:nvSpPr>
          <p:cNvPr id="19" name="Layer question 3"/>
          <p:cNvSpPr txBox="1"/>
          <p:nvPr/>
        </p:nvSpPr>
        <p:spPr>
          <a:xfrm>
            <a:off x="6309360" y="23957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Does its import table look like input capture?</a:t>
            </a:r>
            <a:endParaRPr lang="en-US" sz="1300" dirty="0"/>
          </a:p>
        </p:txBody>
      </p:sp>
      <p:sp>
        <p:nvSpPr>
          <p:cNvPr id="20" name="Layer facts 3"/>
          <p:cNvSpPr txBox="1"/>
          <p:nvPr/>
        </p:nvSpPr>
        <p:spPr>
          <a:xfrm>
            <a:off x="6309360" y="30175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Weighted Windows API match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10 ATT&amp;CK-mapped categories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Deterministic, explainable</a:t>
            </a:r>
            <a:endParaRPr lang="en-US" sz="1300" dirty="0"/>
          </a:p>
        </p:txBody>
      </p:sp>
      <p:sp>
        <p:nvSpPr>
          <p:cNvPr id="21" name="Principle banner"/>
          <p:cNvSpPr/>
          <p:nvPr/>
        </p:nvSpPr>
        <p:spPr>
          <a:xfrm>
            <a:off x="457200" y="4297680"/>
            <a:ext cx="7680960" cy="502920"/>
          </a:xfrm>
          <a:prstGeom prst="roundRect">
            <a:avLst>
              <a:gd name="adj" fmla="val 145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Principle text"/>
          <p:cNvSpPr txBox="1"/>
          <p:nvPr/>
        </p:nvSpPr>
        <p:spPr>
          <a:xfrm>
            <a:off x="640080" y="4297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 single layer raises risk alone: ML and ATT&amp;CK scores only amplify a rule trigger.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Proposed System: Scoring Logic</a:t>
            </a:r>
            <a:endParaRPr lang="en-US" sz="3400" dirty="0"/>
          </a:p>
        </p:txBody>
      </p:sp>
      <p:sp>
        <p:nvSpPr>
          <p:cNvPr id="3" name="Formula panel"/>
          <p:cNvSpPr/>
          <p:nvPr/>
        </p:nvSpPr>
        <p:spPr>
          <a:xfrm>
            <a:off x="457200" y="1234440"/>
            <a:ext cx="502920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Formula"/>
          <p:cNvSpPr txBox="1"/>
          <p:nvPr/>
        </p:nvSpPr>
        <p:spPr>
          <a:xfrm>
            <a:off x="640080" y="137160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 = event_weight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round(10 × ml_risk_score)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round(12 × keylogger_api_score)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 = min(150, score + weight) - 5 / cycle</a:t>
            </a:r>
            <a:endParaRPr lang="en-US" sz="1300" dirty="0"/>
          </a:p>
        </p:txBody>
      </p:sp>
      <p:sp>
        <p:nvSpPr>
          <p:cNvPr id="5" name="Formula caption"/>
          <p:cNvSpPr txBox="1"/>
          <p:nvPr/>
        </p:nvSpPr>
        <p:spPr>
          <a:xfrm>
            <a:off x="640080" y="24505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Bonuses apply only when the event's base weight is positive.</a:t>
            </a:r>
            <a:endParaRPr lang="en-US" sz="1200" dirty="0"/>
          </a:p>
        </p:txBody>
      </p:sp>
      <p:sp>
        <p:nvSpPr>
          <p:cNvPr id="6" name="Gate tile"/>
          <p:cNvSpPr/>
          <p:nvPr/>
        </p:nvSpPr>
        <p:spPr>
          <a:xfrm>
            <a:off x="457200" y="3017520"/>
            <a:ext cx="438912" cy="438912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7" name="Gate icon" descr="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27248"/>
            <a:ext cx="219456" cy="219456"/>
          </a:xfrm>
          <a:prstGeom prst="rect">
            <a:avLst/>
          </a:prstGeom>
        </p:spPr>
      </p:pic>
      <p:sp>
        <p:nvSpPr>
          <p:cNvPr id="8" name="Safeguard 1"/>
          <p:cNvSpPr txBox="1"/>
          <p:nvPr/>
        </p:nvSpPr>
        <p:spPr>
          <a:xfrm>
            <a:off x="1051560" y="3017520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Gate: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Hook events add nothing until a SUSPECT_DETECTED exists.</a:t>
            </a:r>
            <a:endParaRPr lang="en-US" sz="1400" dirty="0"/>
          </a:p>
        </p:txBody>
      </p:sp>
      <p:sp>
        <p:nvSpPr>
          <p:cNvPr id="9" name="Allowlist tile"/>
          <p:cNvSpPr/>
          <p:nvPr/>
        </p:nvSpPr>
        <p:spPr>
          <a:xfrm>
            <a:off x="457200" y="3584448"/>
            <a:ext cx="438912" cy="438912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Allowlist icon" descr="Allow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94176"/>
            <a:ext cx="219456" cy="219456"/>
          </a:xfrm>
          <a:prstGeom prst="rect">
            <a:avLst/>
          </a:prstGeom>
        </p:spPr>
      </p:pic>
      <p:sp>
        <p:nvSpPr>
          <p:cNvPr id="11" name="Safeguard 2"/>
          <p:cNvSpPr txBox="1"/>
          <p:nvPr/>
        </p:nvSpPr>
        <p:spPr>
          <a:xfrm>
            <a:off x="1051560" y="358444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Allowlist: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Trusted software scores 0, whatever the models say.</a:t>
            </a:r>
            <a:endParaRPr lang="en-US" sz="1400" dirty="0"/>
          </a:p>
        </p:txBody>
      </p:sp>
      <p:sp>
        <p:nvSpPr>
          <p:cNvPr id="12" name="Decay + cap tile"/>
          <p:cNvSpPr/>
          <p:nvPr/>
        </p:nvSpPr>
        <p:spPr>
          <a:xfrm>
            <a:off x="457200" y="4151376"/>
            <a:ext cx="438912" cy="438912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Decay + cap icon" descr="Decay + 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261104"/>
            <a:ext cx="219456" cy="219456"/>
          </a:xfrm>
          <a:prstGeom prst="rect">
            <a:avLst/>
          </a:prstGeom>
        </p:spPr>
      </p:pic>
      <p:sp>
        <p:nvSpPr>
          <p:cNvPr id="14" name="Safeguard 3"/>
          <p:cNvSpPr txBox="1"/>
          <p:nvPr/>
        </p:nvSpPr>
        <p:spPr>
          <a:xfrm>
            <a:off x="1051560" y="415137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Decay + cap: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-5 per cycle and a 150 ceiling stop runaway scores.</a:t>
            </a:r>
            <a:endParaRPr lang="en-US" sz="1400" dirty="0"/>
          </a:p>
        </p:txBody>
      </p:sp>
      <p:sp>
        <p:nvSpPr>
          <p:cNvPr id="15" name="Weights panel"/>
          <p:cNvSpPr/>
          <p:nvPr/>
        </p:nvSpPr>
        <p:spPr>
          <a:xfrm>
            <a:off x="5760720" y="1234440"/>
            <a:ext cx="292608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Weights label"/>
          <p:cNvSpPr txBox="1"/>
          <p:nvPr/>
        </p:nvSpPr>
        <p:spPr>
          <a:xfrm>
            <a:off x="5943600" y="1371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EVENT WEIGHTS</a:t>
            </a:r>
            <a:endParaRPr lang="en-US" sz="1100" dirty="0"/>
          </a:p>
        </p:txBody>
      </p:sp>
      <p:sp>
        <p:nvSpPr>
          <p:cNvPr id="17" name="Event name 1"/>
          <p:cNvSpPr txBox="1"/>
          <p:nvPr/>
        </p:nvSpPr>
        <p:spPr>
          <a:xfrm>
            <a:off x="5943600" y="17190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SUSPECT_DETECTED</a:t>
            </a:r>
            <a:endParaRPr lang="en-US" sz="1200" dirty="0"/>
          </a:p>
        </p:txBody>
      </p:sp>
      <p:sp>
        <p:nvSpPr>
          <p:cNvPr id="18" name="Event weight 1"/>
          <p:cNvSpPr txBox="1"/>
          <p:nvPr/>
        </p:nvSpPr>
        <p:spPr>
          <a:xfrm>
            <a:off x="7863840" y="1719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+15</a:t>
            </a:r>
            <a:endParaRPr lang="en-US" sz="1500" dirty="0"/>
          </a:p>
        </p:txBody>
      </p:sp>
      <p:sp>
        <p:nvSpPr>
          <p:cNvPr id="19" name="Event name 2"/>
          <p:cNvSpPr txBox="1"/>
          <p:nvPr/>
        </p:nvSpPr>
        <p:spPr>
          <a:xfrm>
            <a:off x="5943600" y="20848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HOOK_APPEARED</a:t>
            </a:r>
            <a:endParaRPr lang="en-US" sz="1200" dirty="0"/>
          </a:p>
        </p:txBody>
      </p:sp>
      <p:sp>
        <p:nvSpPr>
          <p:cNvPr id="20" name="Event weight 2"/>
          <p:cNvSpPr txBox="1"/>
          <p:nvPr/>
        </p:nvSpPr>
        <p:spPr>
          <a:xfrm>
            <a:off x="7863840" y="20848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+10</a:t>
            </a:r>
            <a:endParaRPr lang="en-US" sz="1500" dirty="0"/>
          </a:p>
        </p:txBody>
      </p:sp>
      <p:sp>
        <p:nvSpPr>
          <p:cNvPr id="21" name="Event name 3"/>
          <p:cNvSpPr txBox="1"/>
          <p:nvPr/>
        </p:nvSpPr>
        <p:spPr>
          <a:xfrm>
            <a:off x="5943600" y="24505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NEW_HOOK_MODULE</a:t>
            </a:r>
            <a:endParaRPr lang="en-US" sz="1200" dirty="0"/>
          </a:p>
        </p:txBody>
      </p:sp>
      <p:sp>
        <p:nvSpPr>
          <p:cNvPr id="22" name="Event weight 3"/>
          <p:cNvSpPr txBox="1"/>
          <p:nvPr/>
        </p:nvSpPr>
        <p:spPr>
          <a:xfrm>
            <a:off x="7863840" y="2450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+35</a:t>
            </a:r>
            <a:endParaRPr lang="en-US" sz="1500" dirty="0"/>
          </a:p>
        </p:txBody>
      </p:sp>
      <p:sp>
        <p:nvSpPr>
          <p:cNvPr id="23" name="Event name 4"/>
          <p:cNvSpPr txBox="1"/>
          <p:nvPr/>
        </p:nvSpPr>
        <p:spPr>
          <a:xfrm>
            <a:off x="5943600" y="2816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HOOK_REMOVED</a:t>
            </a:r>
            <a:endParaRPr lang="en-US" sz="1200" dirty="0"/>
          </a:p>
        </p:txBody>
      </p:sp>
      <p:sp>
        <p:nvSpPr>
          <p:cNvPr id="24" name="Event weight 4"/>
          <p:cNvSpPr txBox="1"/>
          <p:nvPr/>
        </p:nvSpPr>
        <p:spPr>
          <a:xfrm>
            <a:off x="7863840" y="28163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-10</a:t>
            </a:r>
            <a:endParaRPr lang="en-US" sz="1500" dirty="0"/>
          </a:p>
        </p:txBody>
      </p:sp>
      <p:sp>
        <p:nvSpPr>
          <p:cNvPr id="25" name="Level LOW"/>
          <p:cNvSpPr/>
          <p:nvPr/>
        </p:nvSpPr>
        <p:spPr>
          <a:xfrm>
            <a:off x="5760720" y="338328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6" name="Level name LOW"/>
          <p:cNvSpPr txBox="1"/>
          <p:nvPr/>
        </p:nvSpPr>
        <p:spPr>
          <a:xfrm>
            <a:off x="594360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LOW</a:t>
            </a:r>
            <a:endParaRPr lang="en-US" sz="1400" dirty="0"/>
          </a:p>
        </p:txBody>
      </p:sp>
      <p:sp>
        <p:nvSpPr>
          <p:cNvPr id="27" name="Level threshold LOW"/>
          <p:cNvSpPr txBox="1"/>
          <p:nvPr/>
        </p:nvSpPr>
        <p:spPr>
          <a:xfrm>
            <a:off x="7315200" y="3383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&lt; 30</a:t>
            </a:r>
            <a:endParaRPr lang="en-US" sz="1400" dirty="0"/>
          </a:p>
        </p:txBody>
      </p:sp>
      <p:sp>
        <p:nvSpPr>
          <p:cNvPr id="28" name="Level MEDIUM"/>
          <p:cNvSpPr/>
          <p:nvPr/>
        </p:nvSpPr>
        <p:spPr>
          <a:xfrm>
            <a:off x="5760720" y="384048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Level name MEDIUM"/>
          <p:cNvSpPr txBox="1"/>
          <p:nvPr/>
        </p:nvSpPr>
        <p:spPr>
          <a:xfrm>
            <a:off x="5943600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MEDIUM</a:t>
            </a:r>
            <a:endParaRPr lang="en-US" sz="1400" dirty="0"/>
          </a:p>
        </p:txBody>
      </p:sp>
      <p:sp>
        <p:nvSpPr>
          <p:cNvPr id="30" name="Level threshold MEDIUM"/>
          <p:cNvSpPr txBox="1"/>
          <p:nvPr/>
        </p:nvSpPr>
        <p:spPr>
          <a:xfrm>
            <a:off x="7315200" y="3840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&gt;= 30</a:t>
            </a:r>
            <a:endParaRPr lang="en-US" sz="1400" dirty="0"/>
          </a:p>
        </p:txBody>
      </p:sp>
      <p:sp>
        <p:nvSpPr>
          <p:cNvPr id="31" name="Level HIGH"/>
          <p:cNvSpPr/>
          <p:nvPr/>
        </p:nvSpPr>
        <p:spPr>
          <a:xfrm>
            <a:off x="5760720" y="429768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Level name HIGH"/>
          <p:cNvSpPr txBox="1"/>
          <p:nvPr/>
        </p:nvSpPr>
        <p:spPr>
          <a:xfrm>
            <a:off x="5943600" y="4297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HIGH</a:t>
            </a:r>
            <a:endParaRPr lang="en-US" sz="1400" dirty="0"/>
          </a:p>
        </p:txBody>
      </p:sp>
      <p:sp>
        <p:nvSpPr>
          <p:cNvPr id="33" name="Level threshold HIGH"/>
          <p:cNvSpPr txBox="1"/>
          <p:nvPr/>
        </p:nvSpPr>
        <p:spPr>
          <a:xfrm>
            <a:off x="731520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&gt;= 60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3" name="Scheduler bar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cheduler text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main_controller.py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scan every 10 s, analyze every 3 cycles, all in one warm process</a:t>
            </a:r>
            <a:endParaRPr lang="en-US" sz="1400" dirty="0"/>
          </a:p>
        </p:txBody>
      </p:sp>
      <p:sp>
        <p:nvSpPr>
          <p:cNvPr id="5" name="Stage card 1"/>
          <p:cNvSpPr/>
          <p:nvPr/>
        </p:nvSpPr>
        <p:spPr>
          <a:xfrm>
            <a:off x="457200" y="2011680"/>
            <a:ext cx="1463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canner tile"/>
          <p:cNvSpPr/>
          <p:nvPr/>
        </p:nvSpPr>
        <p:spPr>
          <a:xfrm>
            <a:off x="566928" y="2121408"/>
            <a:ext cx="384048" cy="384048"/>
          </a:xfrm>
          <a:prstGeom prst="roundRect">
            <a:avLst>
              <a:gd name="adj" fmla="val 2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7" name="Scanner icon" descr="Scan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192024" cy="192024"/>
          </a:xfrm>
          <a:prstGeom prst="rect">
            <a:avLst/>
          </a:prstGeom>
        </p:spPr>
      </p:pic>
      <p:sp>
        <p:nvSpPr>
          <p:cNvPr id="8" name="Stage title 1"/>
          <p:cNvSpPr txBox="1"/>
          <p:nvPr/>
        </p:nvSpPr>
        <p:spPr>
          <a:xfrm>
            <a:off x="566928" y="2578608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Scanner</a:t>
            </a:r>
            <a:endParaRPr lang="en-US" sz="1400" dirty="0"/>
          </a:p>
        </p:txBody>
      </p:sp>
      <p:sp>
        <p:nvSpPr>
          <p:cNvPr id="9" name="Stage caption 1"/>
          <p:cNvSpPr txBox="1"/>
          <p:nvPr/>
        </p:nvSpPr>
        <p:spPr>
          <a:xfrm>
            <a:off x="566928" y="285292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psutil, user32.dll, signatures</a:t>
            </a:r>
            <a:endParaRPr lang="en-US" sz="1200" dirty="0"/>
          </a:p>
        </p:txBody>
      </p:sp>
      <p:sp>
        <p:nvSpPr>
          <p:cNvPr id="10" name="Flow arrow 1"/>
          <p:cNvSpPr/>
          <p:nvPr/>
        </p:nvSpPr>
        <p:spPr>
          <a:xfrm>
            <a:off x="1938528" y="272491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Stage card 2"/>
          <p:cNvSpPr/>
          <p:nvPr/>
        </p:nvSpPr>
        <p:spPr>
          <a:xfrm>
            <a:off x="2148840" y="2011680"/>
            <a:ext cx="1463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ML Analysis tile"/>
          <p:cNvSpPr/>
          <p:nvPr/>
        </p:nvSpPr>
        <p:spPr>
          <a:xfrm>
            <a:off x="2258568" y="2121408"/>
            <a:ext cx="384048" cy="384048"/>
          </a:xfrm>
          <a:prstGeom prst="roundRect">
            <a:avLst>
              <a:gd name="adj" fmla="val 2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ML Analysis icon" descr="ML Analysi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2217420"/>
            <a:ext cx="192024" cy="192024"/>
          </a:xfrm>
          <a:prstGeom prst="rect">
            <a:avLst/>
          </a:prstGeom>
        </p:spPr>
      </p:pic>
      <p:sp>
        <p:nvSpPr>
          <p:cNvPr id="14" name="Stage title 2"/>
          <p:cNvSpPr txBox="1"/>
          <p:nvPr/>
        </p:nvSpPr>
        <p:spPr>
          <a:xfrm>
            <a:off x="2258568" y="2578608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ML Analysis</a:t>
            </a:r>
            <a:endParaRPr lang="en-US" sz="1400" dirty="0"/>
          </a:p>
        </p:txBody>
      </p:sp>
      <p:sp>
        <p:nvSpPr>
          <p:cNvPr id="15" name="Stage caption 2"/>
          <p:cNvSpPr txBox="1"/>
          <p:nvPr/>
        </p:nvSpPr>
        <p:spPr>
          <a:xfrm>
            <a:off x="2258568" y="285292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PE parse feeds both layers</a:t>
            </a:r>
            <a:endParaRPr lang="en-US" sz="1200" dirty="0"/>
          </a:p>
        </p:txBody>
      </p:sp>
      <p:sp>
        <p:nvSpPr>
          <p:cNvPr id="16" name="Flow arrow 2"/>
          <p:cNvSpPr/>
          <p:nvPr/>
        </p:nvSpPr>
        <p:spPr>
          <a:xfrm>
            <a:off x="3630168" y="272491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Stage card 3"/>
          <p:cNvSpPr/>
          <p:nvPr/>
        </p:nvSpPr>
        <p:spPr>
          <a:xfrm>
            <a:off x="3840480" y="2011680"/>
            <a:ext cx="1463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napshots tile"/>
          <p:cNvSpPr/>
          <p:nvPr/>
        </p:nvSpPr>
        <p:spPr>
          <a:xfrm>
            <a:off x="3950208" y="2121408"/>
            <a:ext cx="384048" cy="384048"/>
          </a:xfrm>
          <a:prstGeom prst="roundRect">
            <a:avLst>
              <a:gd name="adj" fmla="val 2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Snapshots icon" descr="Snapsh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220" y="2217420"/>
            <a:ext cx="192024" cy="192024"/>
          </a:xfrm>
          <a:prstGeom prst="rect">
            <a:avLst/>
          </a:prstGeom>
        </p:spPr>
      </p:pic>
      <p:sp>
        <p:nvSpPr>
          <p:cNvPr id="20" name="Stage title 3"/>
          <p:cNvSpPr txBox="1"/>
          <p:nvPr/>
        </p:nvSpPr>
        <p:spPr>
          <a:xfrm>
            <a:off x="3950208" y="2578608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Snapshots</a:t>
            </a:r>
            <a:endParaRPr lang="en-US" sz="1400" dirty="0"/>
          </a:p>
        </p:txBody>
      </p:sp>
      <p:sp>
        <p:nvSpPr>
          <p:cNvPr id="21" name="Stage caption 3"/>
          <p:cNvSpPr txBox="1"/>
          <p:nvPr/>
        </p:nvSpPr>
        <p:spPr>
          <a:xfrm>
            <a:off x="3950208" y="285292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timestamped JSON, auto-pruned</a:t>
            </a:r>
            <a:endParaRPr lang="en-US" sz="1200" dirty="0"/>
          </a:p>
        </p:txBody>
      </p:sp>
      <p:sp>
        <p:nvSpPr>
          <p:cNvPr id="22" name="Flow arrow 3"/>
          <p:cNvSpPr/>
          <p:nvPr/>
        </p:nvSpPr>
        <p:spPr>
          <a:xfrm>
            <a:off x="5321808" y="272491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Stage card 4"/>
          <p:cNvSpPr/>
          <p:nvPr/>
        </p:nvSpPr>
        <p:spPr>
          <a:xfrm>
            <a:off x="5532120" y="2011680"/>
            <a:ext cx="1463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Analyzer tile"/>
          <p:cNvSpPr/>
          <p:nvPr/>
        </p:nvSpPr>
        <p:spPr>
          <a:xfrm>
            <a:off x="5641848" y="2121408"/>
            <a:ext cx="384048" cy="384048"/>
          </a:xfrm>
          <a:prstGeom prst="roundRect">
            <a:avLst>
              <a:gd name="adj" fmla="val 2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5" name="Analyzer icon" descr="Analyz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60" y="2217420"/>
            <a:ext cx="192024" cy="192024"/>
          </a:xfrm>
          <a:prstGeom prst="rect">
            <a:avLst/>
          </a:prstGeom>
        </p:spPr>
      </p:pic>
      <p:sp>
        <p:nvSpPr>
          <p:cNvPr id="26" name="Stage title 4"/>
          <p:cNvSpPr txBox="1"/>
          <p:nvPr/>
        </p:nvSpPr>
        <p:spPr>
          <a:xfrm>
            <a:off x="5641848" y="2578608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Analyzer</a:t>
            </a:r>
            <a:endParaRPr lang="en-US" sz="1400" dirty="0"/>
          </a:p>
        </p:txBody>
      </p:sp>
      <p:sp>
        <p:nvSpPr>
          <p:cNvPr id="27" name="Stage caption 4"/>
          <p:cNvSpPr txBox="1"/>
          <p:nvPr/>
        </p:nvSpPr>
        <p:spPr>
          <a:xfrm>
            <a:off x="5641848" y="285292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diffs snapshots into temporal events</a:t>
            </a:r>
            <a:endParaRPr lang="en-US" sz="1200" dirty="0"/>
          </a:p>
        </p:txBody>
      </p:sp>
      <p:sp>
        <p:nvSpPr>
          <p:cNvPr id="28" name="Flow arrow 4"/>
          <p:cNvSpPr/>
          <p:nvPr/>
        </p:nvSpPr>
        <p:spPr>
          <a:xfrm>
            <a:off x="7013448" y="2724912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Stage card 5"/>
          <p:cNvSpPr/>
          <p:nvPr/>
        </p:nvSpPr>
        <p:spPr>
          <a:xfrm>
            <a:off x="7223760" y="2011680"/>
            <a:ext cx="1463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Risk Engine tile"/>
          <p:cNvSpPr/>
          <p:nvPr/>
        </p:nvSpPr>
        <p:spPr>
          <a:xfrm>
            <a:off x="7333488" y="2121408"/>
            <a:ext cx="384048" cy="384048"/>
          </a:xfrm>
          <a:prstGeom prst="roundRect">
            <a:avLst>
              <a:gd name="adj" fmla="val 2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Risk Engine icon" descr="Risk Engi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2217420"/>
            <a:ext cx="192024" cy="192024"/>
          </a:xfrm>
          <a:prstGeom prst="rect">
            <a:avLst/>
          </a:prstGeom>
        </p:spPr>
      </p:pic>
      <p:sp>
        <p:nvSpPr>
          <p:cNvPr id="32" name="Stage title 5"/>
          <p:cNvSpPr txBox="1"/>
          <p:nvPr/>
        </p:nvSpPr>
        <p:spPr>
          <a:xfrm>
            <a:off x="7333488" y="2578608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Risk Engine</a:t>
            </a:r>
            <a:endParaRPr lang="en-US" sz="1400" dirty="0"/>
          </a:p>
        </p:txBody>
      </p:sp>
      <p:sp>
        <p:nvSpPr>
          <p:cNvPr id="33" name="Stage caption 5"/>
          <p:cNvSpPr txBox="1"/>
          <p:nvPr/>
        </p:nvSpPr>
        <p:spPr>
          <a:xfrm>
            <a:off x="7333488" y="285292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gated score + decay</a:t>
            </a:r>
            <a:endParaRPr lang="en-US" sz="1200" dirty="0"/>
          </a:p>
        </p:txBody>
      </p:sp>
      <p:sp>
        <p:nvSpPr>
          <p:cNvPr id="34" name="Flow arrow down"/>
          <p:cNvSpPr/>
          <p:nvPr/>
        </p:nvSpPr>
        <p:spPr>
          <a:xfrm>
            <a:off x="7955280" y="3456432"/>
            <a:ext cx="0" cy="34747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tate file"/>
          <p:cNvSpPr/>
          <p:nvPr/>
        </p:nvSpPr>
        <p:spPr>
          <a:xfrm>
            <a:off x="6858000" y="38404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tate file text"/>
          <p:cNvSpPr txBox="1"/>
          <p:nvPr/>
        </p:nvSpPr>
        <p:spPr>
          <a:xfrm>
            <a:off x="6967728" y="384048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temporal_state.json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persistent risk memory</a:t>
            </a:r>
            <a:endParaRPr lang="en-US" sz="1400" dirty="0"/>
          </a:p>
        </p:txBody>
      </p:sp>
      <p:sp>
        <p:nvSpPr>
          <p:cNvPr id="37" name="Flow arrow out"/>
          <p:cNvSpPr/>
          <p:nvPr/>
        </p:nvSpPr>
        <p:spPr>
          <a:xfrm>
            <a:off x="6656832" y="4206240"/>
            <a:ext cx="1828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38" name="Output card 1"/>
          <p:cNvSpPr/>
          <p:nvPr/>
        </p:nvSpPr>
        <p:spPr>
          <a:xfrm>
            <a:off x="4626864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Dashboard tile"/>
          <p:cNvSpPr/>
          <p:nvPr/>
        </p:nvSpPr>
        <p:spPr>
          <a:xfrm>
            <a:off x="4736592" y="3968496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0" name="Dashboard icon" descr="Dashbo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0892" y="4082796"/>
            <a:ext cx="228600" cy="228600"/>
          </a:xfrm>
          <a:prstGeom prst="rect">
            <a:avLst/>
          </a:prstGeom>
        </p:spPr>
      </p:pic>
      <p:sp>
        <p:nvSpPr>
          <p:cNvPr id="41" name="Output text 1"/>
          <p:cNvSpPr txBox="1"/>
          <p:nvPr/>
        </p:nvSpPr>
        <p:spPr>
          <a:xfrm>
            <a:off x="5312664" y="38404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Dashboard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Flask, read-only, local</a:t>
            </a:r>
            <a:endParaRPr lang="en-US" sz="1400" dirty="0"/>
          </a:p>
        </p:txBody>
      </p:sp>
      <p:sp>
        <p:nvSpPr>
          <p:cNvPr id="42" name="Output card 2"/>
          <p:cNvSpPr/>
          <p:nvPr/>
        </p:nvSpPr>
        <p:spPr>
          <a:xfrm>
            <a:off x="2478024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Report CLI tile"/>
          <p:cNvSpPr/>
          <p:nvPr/>
        </p:nvSpPr>
        <p:spPr>
          <a:xfrm>
            <a:off x="2587752" y="3968496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4" name="Report CLI icon" descr="Report CL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2052" y="4082796"/>
            <a:ext cx="228600" cy="228600"/>
          </a:xfrm>
          <a:prstGeom prst="rect">
            <a:avLst/>
          </a:prstGeom>
        </p:spPr>
      </p:pic>
      <p:sp>
        <p:nvSpPr>
          <p:cNvPr id="45" name="Output text 2"/>
          <p:cNvSpPr txBox="1"/>
          <p:nvPr/>
        </p:nvSpPr>
        <p:spPr>
          <a:xfrm>
            <a:off x="3163824" y="38404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 CLI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live terminal 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Detection Workflow</a:t>
            </a:r>
            <a:endParaRPr lang="en-US" sz="3400" dirty="0"/>
          </a:p>
        </p:txBody>
      </p:sp>
      <p:sp>
        <p:nvSpPr>
          <p:cNvPr id="3" name="Left header"/>
          <p:cNvSpPr txBox="1"/>
          <p:nvPr/>
        </p:nvSpPr>
        <p:spPr>
          <a:xfrm>
            <a:off x="457200" y="11704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CAPABILITY CLASSIFICATION</a:t>
            </a:r>
            <a:endParaRPr lang="en-US" sz="1100" dirty="0"/>
          </a:p>
        </p:txBody>
      </p:sp>
      <p:sp>
        <p:nvSpPr>
          <p:cNvPr id="4" name="Flow dot 1"/>
          <p:cNvSpPr/>
          <p:nvPr/>
        </p:nvSpPr>
        <p:spPr>
          <a:xfrm>
            <a:off x="457200" y="1463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low num 1"/>
          <p:cNvSpPr txBox="1"/>
          <p:nvPr/>
        </p:nvSpPr>
        <p:spPr>
          <a:xfrm>
            <a:off x="4572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low title 1"/>
          <p:cNvSpPr txBox="1"/>
          <p:nvPr/>
        </p:nvSpPr>
        <p:spPr>
          <a:xfrm>
            <a:off x="1005840" y="14173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Enumerate processes</a:t>
            </a:r>
            <a:endParaRPr lang="en-US" sz="1500" dirty="0"/>
          </a:p>
        </p:txBody>
      </p:sp>
      <p:sp>
        <p:nvSpPr>
          <p:cNvPr id="7" name="Flow body 1"/>
          <p:cNvSpPr txBox="1"/>
          <p:nvPr/>
        </p:nvSpPr>
        <p:spPr>
          <a:xfrm>
            <a:off x="1005840" y="167335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psutil lists each running process; allowlisted names are skipped.</a:t>
            </a:r>
            <a:endParaRPr lang="en-US" sz="1300" dirty="0"/>
          </a:p>
        </p:txBody>
      </p:sp>
      <p:sp>
        <p:nvSpPr>
          <p:cNvPr id="8" name="Flow dot 2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num 2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Flow title 2"/>
          <p:cNvSpPr txBox="1"/>
          <p:nvPr/>
        </p:nvSpPr>
        <p:spPr>
          <a:xfrm>
            <a:off x="1005840" y="2194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 user32.dll mapped?</a:t>
            </a:r>
            <a:endParaRPr lang="en-US" sz="1500" dirty="0"/>
          </a:p>
        </p:txBody>
      </p:sp>
      <p:sp>
        <p:nvSpPr>
          <p:cNvPr id="11" name="Flow body 2"/>
          <p:cNvSpPr txBox="1"/>
          <p:nvPr/>
        </p:nvSpPr>
        <p:spPr>
          <a:xfrm>
            <a:off x="1005840" y="24505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 means no keyboard-hook capability, so skip.</a:t>
            </a:r>
            <a:endParaRPr lang="en-US" sz="1300" dirty="0"/>
          </a:p>
        </p:txBody>
      </p:sp>
      <p:sp>
        <p:nvSpPr>
          <p:cNvPr id="12" name="Flow dot 3"/>
          <p:cNvSpPr/>
          <p:nvPr/>
        </p:nvSpPr>
        <p:spPr>
          <a:xfrm>
            <a:off x="45720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num 3"/>
          <p:cNvSpPr txBox="1"/>
          <p:nvPr/>
        </p:nvSpPr>
        <p:spPr>
          <a:xfrm>
            <a:off x="4572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Flow title 3"/>
          <p:cNvSpPr txBox="1"/>
          <p:nvPr/>
        </p:nvSpPr>
        <p:spPr>
          <a:xfrm>
            <a:off x="1005840" y="2971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Classify the suspect</a:t>
            </a:r>
            <a:endParaRPr lang="en-US" sz="1500" dirty="0"/>
          </a:p>
        </p:txBody>
      </p:sp>
      <p:sp>
        <p:nvSpPr>
          <p:cNvPr id="15" name="Flow body 3"/>
          <p:cNvSpPr txBox="1"/>
          <p:nvPr/>
        </p:nvSpPr>
        <p:spPr>
          <a:xfrm>
            <a:off x="1005840" y="32278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Non-system DLL loaded: DLL_HOOK_SUSPECT. Else an EXE outside the Windows folder: EXE_HOOK_SUSPECT.</a:t>
            </a:r>
            <a:endParaRPr lang="en-US" sz="1300" dirty="0"/>
          </a:p>
        </p:txBody>
      </p:sp>
      <p:sp>
        <p:nvSpPr>
          <p:cNvPr id="16" name="Flow dot 4"/>
          <p:cNvSpPr/>
          <p:nvPr/>
        </p:nvSpPr>
        <p:spPr>
          <a:xfrm>
            <a:off x="457200" y="4069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Flow num 4"/>
          <p:cNvSpPr txBox="1"/>
          <p:nvPr/>
        </p:nvSpPr>
        <p:spPr>
          <a:xfrm>
            <a:off x="4572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Flow title 4"/>
          <p:cNvSpPr txBox="1"/>
          <p:nvPr/>
        </p:nvSpPr>
        <p:spPr>
          <a:xfrm>
            <a:off x="1005840" y="4023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Score the executable</a:t>
            </a:r>
            <a:endParaRPr lang="en-US" sz="1500" dirty="0"/>
          </a:p>
        </p:txBody>
      </p:sp>
      <p:sp>
        <p:nvSpPr>
          <p:cNvPr id="19" name="Flow body 4"/>
          <p:cNvSpPr txBox="1"/>
          <p:nvPr/>
        </p:nvSpPr>
        <p:spPr>
          <a:xfrm>
            <a:off x="1005840" y="4279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Signature, SHA-256, malware-ML and ATT&amp;CK API fingerprint.</a:t>
            </a:r>
            <a:endParaRPr lang="en-US" sz="1300" dirty="0"/>
          </a:p>
        </p:txBody>
      </p:sp>
      <p:sp>
        <p:nvSpPr>
          <p:cNvPr id="20" name="Right header"/>
          <p:cNvSpPr txBox="1"/>
          <p:nvPr/>
        </p:nvSpPr>
        <p:spPr>
          <a:xfrm>
            <a:off x="4937760" y="11704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BEHAVIOR EVENTS</a:t>
            </a:r>
            <a:endParaRPr lang="en-US" sz="1100" dirty="0"/>
          </a:p>
        </p:txBody>
      </p:sp>
      <p:sp>
        <p:nvSpPr>
          <p:cNvPr id="21" name="Event card 1"/>
          <p:cNvSpPr/>
          <p:nvPr/>
        </p:nvSpPr>
        <p:spPr>
          <a:xfrm>
            <a:off x="4937760" y="1463040"/>
            <a:ext cx="3749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Event title 1"/>
          <p:cNvSpPr txBox="1"/>
          <p:nvPr/>
        </p:nvSpPr>
        <p:spPr>
          <a:xfrm>
            <a:off x="5074920" y="15361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SUSPECT_DETECTED</a:t>
            </a:r>
            <a:endParaRPr lang="en-US" sz="1300" dirty="0"/>
          </a:p>
        </p:txBody>
      </p:sp>
      <p:sp>
        <p:nvSpPr>
          <p:cNvPr id="23" name="Event body 1"/>
          <p:cNvSpPr txBox="1"/>
          <p:nvPr/>
        </p:nvSpPr>
        <p:spPr>
          <a:xfrm>
            <a:off x="5074920" y="17922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First sighting of a hook-capable process</a:t>
            </a:r>
            <a:endParaRPr lang="en-US" sz="1300" dirty="0"/>
          </a:p>
        </p:txBody>
      </p:sp>
      <p:sp>
        <p:nvSpPr>
          <p:cNvPr id="24" name="Event card 2"/>
          <p:cNvSpPr/>
          <p:nvPr/>
        </p:nvSpPr>
        <p:spPr>
          <a:xfrm>
            <a:off x="4937760" y="2212848"/>
            <a:ext cx="3749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Event title 2"/>
          <p:cNvSpPr txBox="1"/>
          <p:nvPr/>
        </p:nvSpPr>
        <p:spPr>
          <a:xfrm>
            <a:off x="5074920" y="22860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HOOK_APPEARED</a:t>
            </a:r>
            <a:endParaRPr lang="en-US" sz="1300" dirty="0"/>
          </a:p>
        </p:txBody>
      </p:sp>
      <p:sp>
        <p:nvSpPr>
          <p:cNvPr id="26" name="Event body 2"/>
          <p:cNvSpPr txBox="1"/>
          <p:nvPr/>
        </p:nvSpPr>
        <p:spPr>
          <a:xfrm>
            <a:off x="5074920" y="254203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Hook DLLs appear where there were none</a:t>
            </a:r>
            <a:endParaRPr lang="en-US" sz="1300" dirty="0"/>
          </a:p>
        </p:txBody>
      </p:sp>
      <p:sp>
        <p:nvSpPr>
          <p:cNvPr id="27" name="Event card 3"/>
          <p:cNvSpPr/>
          <p:nvPr/>
        </p:nvSpPr>
        <p:spPr>
          <a:xfrm>
            <a:off x="4937760" y="2962656"/>
            <a:ext cx="3749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Event title 3"/>
          <p:cNvSpPr txBox="1"/>
          <p:nvPr/>
        </p:nvSpPr>
        <p:spPr>
          <a:xfrm>
            <a:off x="5074920" y="30358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NEW_HOOK_MODULE</a:t>
            </a:r>
            <a:endParaRPr lang="en-US" sz="1300" dirty="0"/>
          </a:p>
        </p:txBody>
      </p:sp>
      <p:sp>
        <p:nvSpPr>
          <p:cNvPr id="29" name="Event body 3"/>
          <p:cNvSpPr txBox="1"/>
          <p:nvPr/>
        </p:nvSpPr>
        <p:spPr>
          <a:xfrm>
            <a:off x="5074920" y="32918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new hook-carrying DLL is added</a:t>
            </a:r>
            <a:endParaRPr lang="en-US" sz="1300" dirty="0"/>
          </a:p>
        </p:txBody>
      </p:sp>
      <p:sp>
        <p:nvSpPr>
          <p:cNvPr id="30" name="Event card 4"/>
          <p:cNvSpPr/>
          <p:nvPr/>
        </p:nvSpPr>
        <p:spPr>
          <a:xfrm>
            <a:off x="4937760" y="3712464"/>
            <a:ext cx="3749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Event title 4"/>
          <p:cNvSpPr txBox="1"/>
          <p:nvPr/>
        </p:nvSpPr>
        <p:spPr>
          <a:xfrm>
            <a:off x="5074920" y="37856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HOOK_REMOVED</a:t>
            </a:r>
            <a:endParaRPr lang="en-US" sz="1300" dirty="0"/>
          </a:p>
        </p:txBody>
      </p:sp>
      <p:sp>
        <p:nvSpPr>
          <p:cNvPr id="32" name="Event body 4"/>
          <p:cNvSpPr txBox="1"/>
          <p:nvPr/>
        </p:nvSpPr>
        <p:spPr>
          <a:xfrm>
            <a:off x="5074920" y="40416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Hook capability disappears (risk falls)</a:t>
            </a:r>
            <a:endParaRPr lang="en-US" sz="1300" dirty="0"/>
          </a:p>
        </p:txBody>
      </p:sp>
      <p:sp>
        <p:nvSpPr>
          <p:cNvPr id="33" name="Identity note"/>
          <p:cNvSpPr txBox="1"/>
          <p:nvPr/>
        </p:nvSpPr>
        <p:spPr>
          <a:xfrm>
            <a:off x="4937760" y="4480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A process identity is executable path + creation time, so it stays stable across PID reuse.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Implementation: Tools Used</a:t>
            </a:r>
            <a:endParaRPr lang="en-US" sz="3400" dirty="0"/>
          </a:p>
        </p:txBody>
      </p:sp>
      <p:sp>
        <p:nvSpPr>
          <p:cNvPr id="3" name="Tool card 1"/>
          <p:cNvSpPr/>
          <p:nvPr/>
        </p:nvSpPr>
        <p:spPr>
          <a:xfrm>
            <a:off x="457200" y="1234440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ython 3.10 / 3.11 tile"/>
          <p:cNvSpPr/>
          <p:nvPr/>
        </p:nvSpPr>
        <p:spPr>
          <a:xfrm>
            <a:off x="594360" y="1490472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ython 3.10 / 3.11 icon" descr="Python 3.10 / 3.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618488"/>
            <a:ext cx="256032" cy="256032"/>
          </a:xfrm>
          <a:prstGeom prst="rect">
            <a:avLst/>
          </a:prstGeom>
        </p:spPr>
      </p:pic>
      <p:sp>
        <p:nvSpPr>
          <p:cNvPr id="6" name="Tool name 1"/>
          <p:cNvSpPr txBox="1"/>
          <p:nvPr/>
        </p:nvSpPr>
        <p:spPr>
          <a:xfrm>
            <a:off x="1234440" y="1362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Python 3.10 / 3.11</a:t>
            </a:r>
            <a:endParaRPr lang="en-US" sz="1400" dirty="0"/>
          </a:p>
        </p:txBody>
      </p:sp>
      <p:sp>
        <p:nvSpPr>
          <p:cNvPr id="7" name="Tool purpose 1"/>
          <p:cNvSpPr txBox="1"/>
          <p:nvPr/>
        </p:nvSpPr>
        <p:spPr>
          <a:xfrm>
            <a:off x="1234440" y="16550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Single language, about 2,000 lines</a:t>
            </a:r>
            <a:endParaRPr lang="en-US" sz="1200" dirty="0"/>
          </a:p>
        </p:txBody>
      </p:sp>
      <p:sp>
        <p:nvSpPr>
          <p:cNvPr id="8" name="Tool card 2"/>
          <p:cNvSpPr/>
          <p:nvPr/>
        </p:nvSpPr>
        <p:spPr>
          <a:xfrm>
            <a:off x="3291840" y="1234440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sutil tile"/>
          <p:cNvSpPr/>
          <p:nvPr/>
        </p:nvSpPr>
        <p:spPr>
          <a:xfrm>
            <a:off x="3429000" y="1490472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psutil icon" descr="psut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1618488"/>
            <a:ext cx="256032" cy="256032"/>
          </a:xfrm>
          <a:prstGeom prst="rect">
            <a:avLst/>
          </a:prstGeom>
        </p:spPr>
      </p:pic>
      <p:sp>
        <p:nvSpPr>
          <p:cNvPr id="11" name="Tool name 2"/>
          <p:cNvSpPr txBox="1"/>
          <p:nvPr/>
        </p:nvSpPr>
        <p:spPr>
          <a:xfrm>
            <a:off x="4069080" y="1362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psutil</a:t>
            </a:r>
            <a:endParaRPr lang="en-US" sz="1400" dirty="0"/>
          </a:p>
        </p:txBody>
      </p:sp>
      <p:sp>
        <p:nvSpPr>
          <p:cNvPr id="12" name="Tool purpose 2"/>
          <p:cNvSpPr txBox="1"/>
          <p:nvPr/>
        </p:nvSpPr>
        <p:spPr>
          <a:xfrm>
            <a:off x="4069080" y="16550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Process and memory-map enumeration</a:t>
            </a:r>
            <a:endParaRPr lang="en-US" sz="1200" dirty="0"/>
          </a:p>
        </p:txBody>
      </p:sp>
      <p:sp>
        <p:nvSpPr>
          <p:cNvPr id="13" name="Tool card 3"/>
          <p:cNvSpPr/>
          <p:nvPr/>
        </p:nvSpPr>
        <p:spPr>
          <a:xfrm>
            <a:off x="6126480" y="1234440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efile tile"/>
          <p:cNvSpPr/>
          <p:nvPr/>
        </p:nvSpPr>
        <p:spPr>
          <a:xfrm>
            <a:off x="6263640" y="1490472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pefile icon" descr="pef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618488"/>
            <a:ext cx="256032" cy="256032"/>
          </a:xfrm>
          <a:prstGeom prst="rect">
            <a:avLst/>
          </a:prstGeom>
        </p:spPr>
      </p:pic>
      <p:sp>
        <p:nvSpPr>
          <p:cNvPr id="16" name="Tool name 3"/>
          <p:cNvSpPr txBox="1"/>
          <p:nvPr/>
        </p:nvSpPr>
        <p:spPr>
          <a:xfrm>
            <a:off x="6903720" y="1362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pefile</a:t>
            </a:r>
            <a:endParaRPr lang="en-US" sz="1400" dirty="0"/>
          </a:p>
        </p:txBody>
      </p:sp>
      <p:sp>
        <p:nvSpPr>
          <p:cNvPr id="17" name="Tool purpose 3"/>
          <p:cNvSpPr txBox="1"/>
          <p:nvPr/>
        </p:nvSpPr>
        <p:spPr>
          <a:xfrm>
            <a:off x="6903720" y="16550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 header parsing for 67 features</a:t>
            </a:r>
            <a:endParaRPr lang="en-US" sz="1200" dirty="0"/>
          </a:p>
        </p:txBody>
      </p:sp>
      <p:sp>
        <p:nvSpPr>
          <p:cNvPr id="18" name="Tool card 4"/>
          <p:cNvSpPr/>
          <p:nvPr/>
        </p:nvSpPr>
        <p:spPr>
          <a:xfrm>
            <a:off x="457200" y="2395728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cikit-learn tile"/>
          <p:cNvSpPr/>
          <p:nvPr/>
        </p:nvSpPr>
        <p:spPr>
          <a:xfrm>
            <a:off x="594360" y="2651760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scikit-learn icon" descr="scikit-lear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779776"/>
            <a:ext cx="256032" cy="256032"/>
          </a:xfrm>
          <a:prstGeom prst="rect">
            <a:avLst/>
          </a:prstGeom>
        </p:spPr>
      </p:pic>
      <p:sp>
        <p:nvSpPr>
          <p:cNvPr id="21" name="Tool name 4"/>
          <p:cNvSpPr txBox="1"/>
          <p:nvPr/>
        </p:nvSpPr>
        <p:spPr>
          <a:xfrm>
            <a:off x="1234440" y="25237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scikit-learn</a:t>
            </a:r>
            <a:endParaRPr lang="en-US" sz="1400" dirty="0"/>
          </a:p>
        </p:txBody>
      </p:sp>
      <p:sp>
        <p:nvSpPr>
          <p:cNvPr id="22" name="Tool purpose 4"/>
          <p:cNvSpPr txBox="1"/>
          <p:nvPr/>
        </p:nvSpPr>
        <p:spPr>
          <a:xfrm>
            <a:off x="1234440" y="28163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RandomForest malware classifier</a:t>
            </a:r>
            <a:endParaRPr lang="en-US" sz="1200" dirty="0"/>
          </a:p>
        </p:txBody>
      </p:sp>
      <p:sp>
        <p:nvSpPr>
          <p:cNvPr id="23" name="Tool card 5"/>
          <p:cNvSpPr/>
          <p:nvPr/>
        </p:nvSpPr>
        <p:spPr>
          <a:xfrm>
            <a:off x="3291840" y="2395728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joblib tile"/>
          <p:cNvSpPr/>
          <p:nvPr/>
        </p:nvSpPr>
        <p:spPr>
          <a:xfrm>
            <a:off x="3429000" y="2651760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5" name="joblib icon" descr="jobli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016" y="2779776"/>
            <a:ext cx="256032" cy="256032"/>
          </a:xfrm>
          <a:prstGeom prst="rect">
            <a:avLst/>
          </a:prstGeom>
        </p:spPr>
      </p:pic>
      <p:sp>
        <p:nvSpPr>
          <p:cNvPr id="26" name="Tool name 5"/>
          <p:cNvSpPr txBox="1"/>
          <p:nvPr/>
        </p:nvSpPr>
        <p:spPr>
          <a:xfrm>
            <a:off x="4069080" y="25237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joblib</a:t>
            </a:r>
            <a:endParaRPr lang="en-US" sz="1400" dirty="0"/>
          </a:p>
        </p:txBody>
      </p:sp>
      <p:sp>
        <p:nvSpPr>
          <p:cNvPr id="27" name="Tool purpose 5"/>
          <p:cNvSpPr txBox="1"/>
          <p:nvPr/>
        </p:nvSpPr>
        <p:spPr>
          <a:xfrm>
            <a:off x="4069080" y="28163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Saves and loads the trained model</a:t>
            </a:r>
            <a:endParaRPr lang="en-US" sz="1200" dirty="0"/>
          </a:p>
        </p:txBody>
      </p:sp>
      <p:sp>
        <p:nvSpPr>
          <p:cNvPr id="28" name="Tool card 6"/>
          <p:cNvSpPr/>
          <p:nvPr/>
        </p:nvSpPr>
        <p:spPr>
          <a:xfrm>
            <a:off x="6126480" y="2395728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WinVerifyTrust tile"/>
          <p:cNvSpPr/>
          <p:nvPr/>
        </p:nvSpPr>
        <p:spPr>
          <a:xfrm>
            <a:off x="6263640" y="2651760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0" name="WinVerifyTrust icon" descr="WinVerifyTru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2779776"/>
            <a:ext cx="256032" cy="256032"/>
          </a:xfrm>
          <a:prstGeom prst="rect">
            <a:avLst/>
          </a:prstGeom>
        </p:spPr>
      </p:pic>
      <p:sp>
        <p:nvSpPr>
          <p:cNvPr id="31" name="Tool name 6"/>
          <p:cNvSpPr txBox="1"/>
          <p:nvPr/>
        </p:nvSpPr>
        <p:spPr>
          <a:xfrm>
            <a:off x="6903720" y="25237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WinVerifyTrust</a:t>
            </a:r>
            <a:endParaRPr lang="en-US" sz="1400" dirty="0"/>
          </a:p>
        </p:txBody>
      </p:sp>
      <p:sp>
        <p:nvSpPr>
          <p:cNvPr id="32" name="Tool purpose 6"/>
          <p:cNvSpPr txBox="1"/>
          <p:nvPr/>
        </p:nvSpPr>
        <p:spPr>
          <a:xfrm>
            <a:off x="6903720" y="28163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Called via ctypes, no subprocess</a:t>
            </a:r>
            <a:endParaRPr lang="en-US" sz="1200" dirty="0"/>
          </a:p>
        </p:txBody>
      </p:sp>
      <p:sp>
        <p:nvSpPr>
          <p:cNvPr id="33" name="Tool card 7"/>
          <p:cNvSpPr/>
          <p:nvPr/>
        </p:nvSpPr>
        <p:spPr>
          <a:xfrm>
            <a:off x="457200" y="3557016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Flask + JS/CSS tile"/>
          <p:cNvSpPr/>
          <p:nvPr/>
        </p:nvSpPr>
        <p:spPr>
          <a:xfrm>
            <a:off x="594360" y="3813048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5" name="Flask + JS/CSS icon" descr="Flask + JS/CS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3941064"/>
            <a:ext cx="256032" cy="256032"/>
          </a:xfrm>
          <a:prstGeom prst="rect">
            <a:avLst/>
          </a:prstGeom>
        </p:spPr>
      </p:pic>
      <p:sp>
        <p:nvSpPr>
          <p:cNvPr id="36" name="Tool name 7"/>
          <p:cNvSpPr txBox="1"/>
          <p:nvPr/>
        </p:nvSpPr>
        <p:spPr>
          <a:xfrm>
            <a:off x="1234440" y="3685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Flask + JS/CSS</a:t>
            </a:r>
            <a:endParaRPr lang="en-US" sz="1400" dirty="0"/>
          </a:p>
        </p:txBody>
      </p:sp>
      <p:sp>
        <p:nvSpPr>
          <p:cNvPr id="37" name="Tool purpose 7"/>
          <p:cNvSpPr txBox="1"/>
          <p:nvPr/>
        </p:nvSpPr>
        <p:spPr>
          <a:xfrm>
            <a:off x="1234440" y="39776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Live read-only web dashboard</a:t>
            </a:r>
            <a:endParaRPr lang="en-US" sz="1200" dirty="0"/>
          </a:p>
        </p:txBody>
      </p:sp>
      <p:sp>
        <p:nvSpPr>
          <p:cNvPr id="38" name="Tool card 8"/>
          <p:cNvSpPr/>
          <p:nvPr/>
        </p:nvSpPr>
        <p:spPr>
          <a:xfrm>
            <a:off x="3291840" y="3557016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pytest + CI tile"/>
          <p:cNvSpPr/>
          <p:nvPr/>
        </p:nvSpPr>
        <p:spPr>
          <a:xfrm>
            <a:off x="3429000" y="3813048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0" name="pytest + CI icon" descr="pytest + C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7016" y="3941064"/>
            <a:ext cx="256032" cy="256032"/>
          </a:xfrm>
          <a:prstGeom prst="rect">
            <a:avLst/>
          </a:prstGeom>
        </p:spPr>
      </p:pic>
      <p:sp>
        <p:nvSpPr>
          <p:cNvPr id="41" name="Tool name 8"/>
          <p:cNvSpPr txBox="1"/>
          <p:nvPr/>
        </p:nvSpPr>
        <p:spPr>
          <a:xfrm>
            <a:off x="4069080" y="3685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pytest + CI</a:t>
            </a:r>
            <a:endParaRPr lang="en-US" sz="1400" dirty="0"/>
          </a:p>
        </p:txBody>
      </p:sp>
      <p:sp>
        <p:nvSpPr>
          <p:cNvPr id="42" name="Tool purpose 8"/>
          <p:cNvSpPr txBox="1"/>
          <p:nvPr/>
        </p:nvSpPr>
        <p:spPr>
          <a:xfrm>
            <a:off x="4069080" y="39776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 Actions on Ubuntu and Windows</a:t>
            </a:r>
            <a:endParaRPr lang="en-US" sz="1200" dirty="0"/>
          </a:p>
        </p:txBody>
      </p:sp>
      <p:sp>
        <p:nvSpPr>
          <p:cNvPr id="43" name="Tool card 9"/>
          <p:cNvSpPr/>
          <p:nvPr/>
        </p:nvSpPr>
        <p:spPr>
          <a:xfrm>
            <a:off x="6126480" y="3557016"/>
            <a:ext cx="256032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ClaMP + ATT&amp;CK tile"/>
          <p:cNvSpPr/>
          <p:nvPr/>
        </p:nvSpPr>
        <p:spPr>
          <a:xfrm>
            <a:off x="6263640" y="3813048"/>
            <a:ext cx="512064" cy="512064"/>
          </a:xfrm>
          <a:prstGeom prst="roundRect">
            <a:avLst>
              <a:gd name="adj" fmla="val 17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5" name="ClaMP + ATT&amp;CK icon" descr="ClaMP + ATT&amp;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3941064"/>
            <a:ext cx="256032" cy="256032"/>
          </a:xfrm>
          <a:prstGeom prst="rect">
            <a:avLst/>
          </a:prstGeom>
        </p:spPr>
      </p:pic>
      <p:sp>
        <p:nvSpPr>
          <p:cNvPr id="46" name="Tool name 9"/>
          <p:cNvSpPr txBox="1"/>
          <p:nvPr/>
        </p:nvSpPr>
        <p:spPr>
          <a:xfrm>
            <a:off x="6903720" y="3685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ClaMP + ATT&amp;CK</a:t>
            </a:r>
            <a:endParaRPr lang="en-US" sz="1400" dirty="0"/>
          </a:p>
        </p:txBody>
      </p:sp>
      <p:sp>
        <p:nvSpPr>
          <p:cNvPr id="47" name="Tool purpose 9"/>
          <p:cNvSpPr txBox="1"/>
          <p:nvPr/>
        </p:nvSpPr>
        <p:spPr>
          <a:xfrm>
            <a:off x="6903720" y="39776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Training data and API taxonomy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Results: Malware-ML Layer</a:t>
            </a:r>
            <a:endParaRPr lang="en-US" sz="3400" dirty="0"/>
          </a:p>
        </p:txBody>
      </p:sp>
      <p:sp>
        <p:nvSpPr>
          <p:cNvPr id="3" name="Stat tile 1"/>
          <p:cNvSpPr/>
          <p:nvPr/>
        </p:nvSpPr>
        <p:spPr>
          <a:xfrm>
            <a:off x="457200" y="1234440"/>
            <a:ext cx="1920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at value 1"/>
          <p:cNvSpPr txBox="1"/>
          <p:nvPr/>
        </p:nvSpPr>
        <p:spPr>
          <a:xfrm>
            <a:off x="548640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99.04%</a:t>
            </a:r>
            <a:endParaRPr lang="en-US" sz="3400" dirty="0"/>
          </a:p>
        </p:txBody>
      </p:sp>
      <p:sp>
        <p:nvSpPr>
          <p:cNvPr id="5" name="Stat label 1"/>
          <p:cNvSpPr txBox="1"/>
          <p:nvPr/>
        </p:nvSpPr>
        <p:spPr>
          <a:xfrm>
            <a:off x="548640" y="19385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accuracy, held-out</a:t>
            </a:r>
            <a:endParaRPr lang="en-US" sz="1300" dirty="0"/>
          </a:p>
        </p:txBody>
      </p:sp>
      <p:sp>
        <p:nvSpPr>
          <p:cNvPr id="6" name="Stat tile 2"/>
          <p:cNvSpPr/>
          <p:nvPr/>
        </p:nvSpPr>
        <p:spPr>
          <a:xfrm>
            <a:off x="2542032" y="1234440"/>
            <a:ext cx="1920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at value 2"/>
          <p:cNvSpPr txBox="1"/>
          <p:nvPr/>
        </p:nvSpPr>
        <p:spPr>
          <a:xfrm>
            <a:off x="2633472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5,210</a:t>
            </a:r>
            <a:endParaRPr lang="en-US" sz="3400" dirty="0"/>
          </a:p>
        </p:txBody>
      </p:sp>
      <p:sp>
        <p:nvSpPr>
          <p:cNvPr id="8" name="Stat label 2"/>
          <p:cNvSpPr txBox="1"/>
          <p:nvPr/>
        </p:nvSpPr>
        <p:spPr>
          <a:xfrm>
            <a:off x="2633472" y="19385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real executables</a:t>
            </a:r>
            <a:endParaRPr lang="en-US" sz="1300" dirty="0"/>
          </a:p>
        </p:txBody>
      </p:sp>
      <p:sp>
        <p:nvSpPr>
          <p:cNvPr id="9" name="Stat tile 3"/>
          <p:cNvSpPr/>
          <p:nvPr/>
        </p:nvSpPr>
        <p:spPr>
          <a:xfrm>
            <a:off x="4626864" y="1234440"/>
            <a:ext cx="1920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tat value 3"/>
          <p:cNvSpPr txBox="1"/>
          <p:nvPr/>
        </p:nvSpPr>
        <p:spPr>
          <a:xfrm>
            <a:off x="4718304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400" dirty="0"/>
          </a:p>
        </p:txBody>
      </p:sp>
      <p:sp>
        <p:nvSpPr>
          <p:cNvPr id="11" name="Stat label 3"/>
          <p:cNvSpPr txBox="1"/>
          <p:nvPr/>
        </p:nvSpPr>
        <p:spPr>
          <a:xfrm>
            <a:off x="4718304" y="19385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PE-header features</a:t>
            </a:r>
            <a:endParaRPr lang="en-US" sz="1300" dirty="0"/>
          </a:p>
        </p:txBody>
      </p:sp>
      <p:sp>
        <p:nvSpPr>
          <p:cNvPr id="12" name="Stat tile 4"/>
          <p:cNvSpPr/>
          <p:nvPr/>
        </p:nvSpPr>
        <p:spPr>
          <a:xfrm>
            <a:off x="6711696" y="1234440"/>
            <a:ext cx="1920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tat value 4"/>
          <p:cNvSpPr txBox="1"/>
          <p:nvPr/>
        </p:nvSpPr>
        <p:spPr>
          <a:xfrm>
            <a:off x="6803136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1,042</a:t>
            </a:r>
            <a:endParaRPr lang="en-US" sz="3400" dirty="0"/>
          </a:p>
        </p:txBody>
      </p:sp>
      <p:sp>
        <p:nvSpPr>
          <p:cNvPr id="14" name="Stat label 4"/>
          <p:cNvSpPr txBox="1"/>
          <p:nvPr/>
        </p:nvSpPr>
        <p:spPr>
          <a:xfrm>
            <a:off x="6803136" y="19385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test samples (20%)</a:t>
            </a:r>
            <a:endParaRPr lang="en-US" sz="1300" dirty="0"/>
          </a:p>
        </p:txBody>
      </p:sp>
      <p:sp>
        <p:nvSpPr>
          <p:cNvPr id="15" name="Matrix label"/>
          <p:cNvSpPr txBox="1"/>
          <p:nvPr/>
        </p:nvSpPr>
        <p:spPr>
          <a:xfrm>
            <a:off x="457200" y="2606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CONFUSION MATRIX</a:t>
            </a:r>
            <a:endParaRPr lang="en-US" sz="1100" dirty="0"/>
          </a:p>
        </p:txBody>
      </p:sp>
      <p:sp>
        <p:nvSpPr>
          <p:cNvPr id="16" name="Pred benign"/>
          <p:cNvSpPr txBox="1"/>
          <p:nvPr/>
        </p:nvSpPr>
        <p:spPr>
          <a:xfrm>
            <a:off x="1737360" y="28803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Predicted benign</a:t>
            </a:r>
            <a:endParaRPr lang="en-US" sz="1200" dirty="0"/>
          </a:p>
        </p:txBody>
      </p:sp>
      <p:sp>
        <p:nvSpPr>
          <p:cNvPr id="17" name="Pred malware"/>
          <p:cNvSpPr txBox="1"/>
          <p:nvPr/>
        </p:nvSpPr>
        <p:spPr>
          <a:xfrm>
            <a:off x="3154680" y="28803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Predicted malware</a:t>
            </a:r>
            <a:endParaRPr lang="en-US" sz="1200" dirty="0"/>
          </a:p>
        </p:txBody>
      </p:sp>
      <p:sp>
        <p:nvSpPr>
          <p:cNvPr id="18" name="Actual benign"/>
          <p:cNvSpPr txBox="1"/>
          <p:nvPr/>
        </p:nvSpPr>
        <p:spPr>
          <a:xfrm>
            <a:off x="457200" y="3154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Actual benign</a:t>
            </a:r>
            <a:endParaRPr lang="en-US" sz="1200" dirty="0"/>
          </a:p>
        </p:txBody>
      </p:sp>
      <p:sp>
        <p:nvSpPr>
          <p:cNvPr id="19" name="Actual malware"/>
          <p:cNvSpPr txBox="1"/>
          <p:nvPr/>
        </p:nvSpPr>
        <p:spPr>
          <a:xfrm>
            <a:off x="45720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Actual malware</a:t>
            </a:r>
            <a:endParaRPr lang="en-US" sz="1200" dirty="0"/>
          </a:p>
        </p:txBody>
      </p:sp>
      <p:sp>
        <p:nvSpPr>
          <p:cNvPr id="20" name="Matrix cell 1"/>
          <p:cNvSpPr/>
          <p:nvPr/>
        </p:nvSpPr>
        <p:spPr>
          <a:xfrm>
            <a:off x="1737360" y="315468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Matrix value 1"/>
          <p:cNvSpPr txBox="1"/>
          <p:nvPr/>
        </p:nvSpPr>
        <p:spPr>
          <a:xfrm>
            <a:off x="1737360" y="31546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491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</a:t>
            </a:r>
            <a:endParaRPr lang="en-US" sz="1400" dirty="0"/>
          </a:p>
        </p:txBody>
      </p:sp>
      <p:sp>
        <p:nvSpPr>
          <p:cNvPr id="22" name="Matrix cell 2"/>
          <p:cNvSpPr/>
          <p:nvPr/>
        </p:nvSpPr>
        <p:spPr>
          <a:xfrm>
            <a:off x="3154680" y="315468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Matrix value 2"/>
          <p:cNvSpPr txBox="1"/>
          <p:nvPr/>
        </p:nvSpPr>
        <p:spPr>
          <a:xfrm>
            <a:off x="3154680" y="31546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false alarm</a:t>
            </a:r>
            <a:endParaRPr lang="en-US" sz="1400" dirty="0"/>
          </a:p>
        </p:txBody>
      </p:sp>
      <p:sp>
        <p:nvSpPr>
          <p:cNvPr id="24" name="Matrix cell 3"/>
          <p:cNvSpPr/>
          <p:nvPr/>
        </p:nvSpPr>
        <p:spPr>
          <a:xfrm>
            <a:off x="1737360" y="38862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Matrix value 3"/>
          <p:cNvSpPr txBox="1"/>
          <p:nvPr/>
        </p:nvSpPr>
        <p:spPr>
          <a:xfrm>
            <a:off x="1737360" y="3886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missed</a:t>
            </a:r>
            <a:endParaRPr lang="en-US" sz="1400" dirty="0"/>
          </a:p>
        </p:txBody>
      </p:sp>
      <p:sp>
        <p:nvSpPr>
          <p:cNvPr id="26" name="Matrix cell 4"/>
          <p:cNvSpPr/>
          <p:nvPr/>
        </p:nvSpPr>
        <p:spPr>
          <a:xfrm>
            <a:off x="3154680" y="38862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Matrix value 4"/>
          <p:cNvSpPr txBox="1"/>
          <p:nvPr/>
        </p:nvSpPr>
        <p:spPr>
          <a:xfrm>
            <a:off x="3154680" y="3886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541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</a:t>
            </a:r>
            <a:endParaRPr lang="en-US" sz="1400" dirty="0"/>
          </a:p>
        </p:txBody>
      </p:sp>
      <p:sp>
        <p:nvSpPr>
          <p:cNvPr id="28" name="Report label"/>
          <p:cNvSpPr txBox="1"/>
          <p:nvPr/>
        </p:nvSpPr>
        <p:spPr>
          <a:xfrm>
            <a:off x="493776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CLASSIFICATION REPORT</a:t>
            </a:r>
            <a:endParaRPr lang="en-US" sz="1100" dirty="0"/>
          </a:p>
        </p:txBody>
      </p:sp>
      <p:graphicFrame>
        <p:nvGraphicFramePr>
          <p:cNvPr id="13" name="Classification repo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880360"/>
          <a:ext cx="3749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benign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malware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0.99</a:t>
                      </a:r>
                      <a:endParaRPr lang="en-US" sz="1300" dirty="0"/>
                    </a:p>
                  </a:txBody>
                  <a:tcPr marL="91440" marR="9144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30" name="CI note"/>
          <p:cNvSpPr txBox="1"/>
          <p:nvPr/>
        </p:nvSpPr>
        <p:spPr>
          <a:xfrm>
            <a:off x="493776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CI gate: the build fails if accuracy drops below 90%.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Results: Features and Speed</a:t>
            </a:r>
            <a:endParaRPr lang="en-US" sz="3400" dirty="0"/>
          </a:p>
        </p:txBody>
      </p:sp>
      <p:sp>
        <p:nvSpPr>
          <p:cNvPr id="3" name="Chart label"/>
          <p:cNvSpPr txBox="1"/>
          <p:nvPr/>
        </p:nvSpPr>
        <p:spPr>
          <a:xfrm>
            <a:off x="457200" y="11704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TOP 8 FEATURE IMPORTANCES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0292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erf card 1"/>
          <p:cNvSpPr/>
          <p:nvPr/>
        </p:nvSpPr>
        <p:spPr>
          <a:xfrm>
            <a:off x="5760720" y="1280160"/>
            <a:ext cx="2926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Perf value 1"/>
          <p:cNvSpPr txBox="1"/>
          <p:nvPr/>
        </p:nvSpPr>
        <p:spPr>
          <a:xfrm>
            <a:off x="5897880" y="1325880"/>
            <a:ext cx="1234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 ms</a:t>
            </a:r>
            <a:endParaRPr lang="en-US" sz="2400" dirty="0"/>
          </a:p>
        </p:txBody>
      </p:sp>
      <p:sp>
        <p:nvSpPr>
          <p:cNvPr id="7" name="Perf label 1"/>
          <p:cNvSpPr txBox="1"/>
          <p:nvPr/>
        </p:nvSpPr>
        <p:spPr>
          <a:xfrm>
            <a:off x="7178040" y="1325880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 score one new executable (PE parse + both ML layers)</a:t>
            </a:r>
            <a:endParaRPr lang="en-US" sz="1200" dirty="0"/>
          </a:p>
        </p:txBody>
      </p:sp>
      <p:sp>
        <p:nvSpPr>
          <p:cNvPr id="8" name="Perf card 2"/>
          <p:cNvSpPr/>
          <p:nvPr/>
        </p:nvSpPr>
        <p:spPr>
          <a:xfrm>
            <a:off x="5760720" y="2395728"/>
            <a:ext cx="2926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erf value 2"/>
          <p:cNvSpPr txBox="1"/>
          <p:nvPr/>
        </p:nvSpPr>
        <p:spPr>
          <a:xfrm>
            <a:off x="5897880" y="2441448"/>
            <a:ext cx="1234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ms</a:t>
            </a:r>
            <a:endParaRPr lang="en-US" sz="2400" dirty="0"/>
          </a:p>
        </p:txBody>
      </p:sp>
      <p:sp>
        <p:nvSpPr>
          <p:cNvPr id="10" name="Perf label 2"/>
          <p:cNvSpPr txBox="1"/>
          <p:nvPr/>
        </p:nvSpPr>
        <p:spPr>
          <a:xfrm>
            <a:off x="7178040" y="2441448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 a repeat path: cached per executable</a:t>
            </a:r>
            <a:endParaRPr lang="en-US" sz="1200" dirty="0"/>
          </a:p>
        </p:txBody>
      </p:sp>
      <p:sp>
        <p:nvSpPr>
          <p:cNvPr id="11" name="Perf card 3"/>
          <p:cNvSpPr/>
          <p:nvPr/>
        </p:nvSpPr>
        <p:spPr>
          <a:xfrm>
            <a:off x="5760720" y="3511296"/>
            <a:ext cx="292608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erf value 3"/>
          <p:cNvSpPr txBox="1"/>
          <p:nvPr/>
        </p:nvSpPr>
        <p:spPr>
          <a:xfrm>
            <a:off x="5897880" y="3557016"/>
            <a:ext cx="1234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 s</a:t>
            </a:r>
            <a:endParaRPr lang="en-US" sz="2400" dirty="0"/>
          </a:p>
        </p:txBody>
      </p:sp>
      <p:sp>
        <p:nvSpPr>
          <p:cNvPr id="13" name="Perf label 3"/>
          <p:cNvSpPr txBox="1"/>
          <p:nvPr/>
        </p:nvSpPr>
        <p:spPr>
          <a:xfrm>
            <a:off x="7178040" y="3557016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model load, paid once at startup, not every cycle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Results: Risk Over Time</a:t>
            </a:r>
            <a:endParaRPr lang="en-US" sz="3400" dirty="0"/>
          </a:p>
        </p:txBody>
      </p:sp>
      <p:sp>
        <p:nvSpPr>
          <p:cNvPr id="3" name="Chart label"/>
          <p:cNvSpPr txBox="1"/>
          <p:nvPr/>
        </p:nvSpPr>
        <p:spPr>
          <a:xfrm>
            <a:off x="457200" y="11704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SIMULATED RUN OF THE PROJECT'S RISK ENGINE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hart caption"/>
          <p:cNvSpPr txBox="1"/>
          <p:nvPr/>
        </p:nvSpPr>
        <p:spPr>
          <a:xfrm>
            <a:off x="45720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Evidence: ML 0.9, API 0.55. Events: detect (1), hook appears (2), new module (3, 5), then quiet. Decay is 5 points per cycle.</a:t>
            </a:r>
            <a:endParaRPr lang="en-US" sz="1100" dirty="0"/>
          </a:p>
        </p:txBody>
      </p:sp>
      <p:sp>
        <p:nvSpPr>
          <p:cNvPr id="6" name="Case study panel"/>
          <p:cNvSpPr/>
          <p:nvPr/>
        </p:nvSpPr>
        <p:spPr>
          <a:xfrm>
            <a:off x="5943600" y="1234440"/>
            <a:ext cx="2743200" cy="34290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Case label"/>
          <p:cNvSpPr txBox="1"/>
          <p:nvPr/>
        </p:nvSpPr>
        <p:spPr>
          <a:xfrm>
            <a:off x="6126480" y="1371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CASE STUDY: FALSE POSITIVE</a:t>
            </a:r>
            <a:endParaRPr lang="en-US" sz="1100" dirty="0"/>
          </a:p>
        </p:txBody>
      </p:sp>
      <p:sp>
        <p:nvSpPr>
          <p:cNvPr id="8" name="Case before"/>
          <p:cNvSpPr txBox="1"/>
          <p:nvPr/>
        </p:nvSpPr>
        <p:spPr>
          <a:xfrm>
            <a:off x="6126480" y="1645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536</a:t>
            </a:r>
            <a:endParaRPr lang="en-US" sz="4800" dirty="0"/>
          </a:p>
        </p:txBody>
      </p:sp>
      <p:sp>
        <p:nvSpPr>
          <p:cNvPr id="9" name="Case before label"/>
          <p:cNvSpPr txBox="1"/>
          <p:nvPr/>
        </p:nvSpPr>
        <p:spPr>
          <a:xfrm>
            <a:off x="61264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score hit by a GPU overlay (hotkey + recording) in a real run</a:t>
            </a:r>
            <a:endParaRPr lang="en-US" sz="1200" dirty="0"/>
          </a:p>
        </p:txBody>
      </p:sp>
      <p:sp>
        <p:nvSpPr>
          <p:cNvPr id="10" name="Case fixes"/>
          <p:cNvSpPr txBox="1"/>
          <p:nvPr/>
        </p:nvSpPr>
        <p:spPr>
          <a:xfrm>
            <a:off x="6126480" y="29718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Fixed by: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ML bonus scales halved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Recalibrated API weights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Score cap of 150</a:t>
            </a:r>
            <a:endParaRPr lang="en-US" sz="1300" dirty="0"/>
          </a:p>
        </p:txBody>
      </p:sp>
      <p:sp>
        <p:nvSpPr>
          <p:cNvPr id="11" name="Case after"/>
          <p:cNvSpPr txBox="1"/>
          <p:nvPr/>
        </p:nvSpPr>
        <p:spPr>
          <a:xfrm>
            <a:off x="6126480" y="3977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Re-simulation: caps at 145, back to LOW in ~15 cycles.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Results: Live Dashboard</a:t>
            </a:r>
            <a:endParaRPr lang="en-US" sz="3400" dirty="0"/>
          </a:p>
        </p:txBody>
      </p:sp>
      <p:pic>
        <p:nvPicPr>
          <p:cNvPr id="3" name="Dashboard screenshot" descr="Dashboard screenshot with demo data: stat tiles and a sortable risk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394960" cy="33741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Screenshot caption"/>
          <p:cNvSpPr txBox="1"/>
          <p:nvPr/>
        </p:nvSpPr>
        <p:spPr>
          <a:xfrm>
            <a:off x="457200" y="4645152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Screenshot with demo data</a:t>
            </a:r>
            <a:endParaRPr lang="en-US" sz="1000" dirty="0"/>
          </a:p>
        </p:txBody>
      </p:sp>
      <p:sp>
        <p:nvSpPr>
          <p:cNvPr id="5" name="Live tile"/>
          <p:cNvSpPr/>
          <p:nvPr/>
        </p:nvSpPr>
        <p:spPr>
          <a:xfrm>
            <a:off x="6126480" y="1280160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Live icon" descr="L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394460"/>
            <a:ext cx="228600" cy="228600"/>
          </a:xfrm>
          <a:prstGeom prst="rect">
            <a:avLst/>
          </a:prstGeom>
        </p:spPr>
      </p:pic>
      <p:sp>
        <p:nvSpPr>
          <p:cNvPr id="7" name="Dash point title 1"/>
          <p:cNvSpPr txBox="1"/>
          <p:nvPr/>
        </p:nvSpPr>
        <p:spPr>
          <a:xfrm>
            <a:off x="6720840" y="126187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Live</a:t>
            </a:r>
            <a:endParaRPr lang="en-US" sz="1400" dirty="0"/>
          </a:p>
        </p:txBody>
      </p:sp>
      <p:sp>
        <p:nvSpPr>
          <p:cNvPr id="8" name="Dash point body 1"/>
          <p:cNvSpPr txBox="1"/>
          <p:nvPr/>
        </p:nvSpPr>
        <p:spPr>
          <a:xfrm>
            <a:off x="6720840" y="15270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polls every 3 s, no page reload</a:t>
            </a:r>
            <a:endParaRPr lang="en-US" sz="1200" dirty="0"/>
          </a:p>
        </p:txBody>
      </p:sp>
      <p:sp>
        <p:nvSpPr>
          <p:cNvPr id="9" name="Sortable table tile"/>
          <p:cNvSpPr/>
          <p:nvPr/>
        </p:nvSpPr>
        <p:spPr>
          <a:xfrm>
            <a:off x="6126480" y="2130552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Sortable table icon" descr="Sortable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244852"/>
            <a:ext cx="228600" cy="228600"/>
          </a:xfrm>
          <a:prstGeom prst="rect">
            <a:avLst/>
          </a:prstGeom>
        </p:spPr>
      </p:pic>
      <p:sp>
        <p:nvSpPr>
          <p:cNvPr id="11" name="Dash point title 2"/>
          <p:cNvSpPr txBox="1"/>
          <p:nvPr/>
        </p:nvSpPr>
        <p:spPr>
          <a:xfrm>
            <a:off x="6720840" y="211226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Sortable table</a:t>
            </a:r>
            <a:endParaRPr lang="en-US" sz="1400" dirty="0"/>
          </a:p>
        </p:txBody>
      </p:sp>
      <p:sp>
        <p:nvSpPr>
          <p:cNvPr id="12" name="Dash point body 2"/>
          <p:cNvSpPr txBox="1"/>
          <p:nvPr/>
        </p:nvSpPr>
        <p:spPr>
          <a:xfrm>
            <a:off x="6720840" y="23774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risk badge, score, ML and API bars</a:t>
            </a:r>
            <a:endParaRPr lang="en-US" sz="1200" dirty="0"/>
          </a:p>
        </p:txBody>
      </p:sp>
      <p:sp>
        <p:nvSpPr>
          <p:cNvPr id="13" name="ATT&amp;CK tags tile"/>
          <p:cNvSpPr/>
          <p:nvPr/>
        </p:nvSpPr>
        <p:spPr>
          <a:xfrm>
            <a:off x="6126480" y="2980944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TT&amp;CK tags icon" descr="ATT&amp;CK ta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3095244"/>
            <a:ext cx="228600" cy="228600"/>
          </a:xfrm>
          <a:prstGeom prst="rect">
            <a:avLst/>
          </a:prstGeom>
        </p:spPr>
      </p:pic>
      <p:sp>
        <p:nvSpPr>
          <p:cNvPr id="15" name="Dash point title 3"/>
          <p:cNvSpPr txBox="1"/>
          <p:nvPr/>
        </p:nvSpPr>
        <p:spPr>
          <a:xfrm>
            <a:off x="6720840" y="296265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ATT&amp;CK tags</a:t>
            </a:r>
            <a:endParaRPr lang="en-US" sz="1400" dirty="0"/>
          </a:p>
        </p:txBody>
      </p:sp>
      <p:sp>
        <p:nvSpPr>
          <p:cNvPr id="16" name="Dash point body 3"/>
          <p:cNvSpPr txBox="1"/>
          <p:nvPr/>
        </p:nvSpPr>
        <p:spPr>
          <a:xfrm>
            <a:off x="6720840" y="32278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matched APIs shown per process</a:t>
            </a:r>
            <a:endParaRPr lang="en-US" sz="1200" dirty="0"/>
          </a:p>
        </p:txBody>
      </p:sp>
      <p:sp>
        <p:nvSpPr>
          <p:cNvPr id="17" name="Local-only tile"/>
          <p:cNvSpPr/>
          <p:nvPr/>
        </p:nvSpPr>
        <p:spPr>
          <a:xfrm>
            <a:off x="6126480" y="3831336"/>
            <a:ext cx="457200" cy="4572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Local-only icon" descr="Local-on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0780" y="3945636"/>
            <a:ext cx="228600" cy="228600"/>
          </a:xfrm>
          <a:prstGeom prst="rect">
            <a:avLst/>
          </a:prstGeom>
        </p:spPr>
      </p:pic>
      <p:sp>
        <p:nvSpPr>
          <p:cNvPr id="19" name="Dash point title 4"/>
          <p:cNvSpPr txBox="1"/>
          <p:nvPr/>
        </p:nvSpPr>
        <p:spPr>
          <a:xfrm>
            <a:off x="6720840" y="381304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Local-only</a:t>
            </a:r>
            <a:endParaRPr lang="en-US" sz="1400" dirty="0"/>
          </a:p>
        </p:txBody>
      </p:sp>
      <p:sp>
        <p:nvSpPr>
          <p:cNvPr id="20" name="Dash point body 4"/>
          <p:cNvSpPr txBox="1"/>
          <p:nvPr/>
        </p:nvSpPr>
        <p:spPr>
          <a:xfrm>
            <a:off x="6720840" y="40782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binds to 127.0.0.1, read-only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Discussion</a:t>
            </a:r>
            <a:endParaRPr lang="en-US" sz="3400" dirty="0"/>
          </a:p>
        </p:txBody>
      </p:sp>
      <p:sp>
        <p:nvSpPr>
          <p:cNvPr id="3" name="Discussion card 1"/>
          <p:cNvSpPr/>
          <p:nvPr/>
        </p:nvSpPr>
        <p:spPr>
          <a:xfrm>
            <a:off x="457200" y="123444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What worked tile"/>
          <p:cNvSpPr/>
          <p:nvPr/>
        </p:nvSpPr>
        <p:spPr>
          <a:xfrm>
            <a:off x="640080" y="13898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5" name="What worked icon" descr="What wor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04188"/>
            <a:ext cx="228600" cy="228600"/>
          </a:xfrm>
          <a:prstGeom prst="rect">
            <a:avLst/>
          </a:prstGeom>
        </p:spPr>
      </p:pic>
      <p:sp>
        <p:nvSpPr>
          <p:cNvPr id="6" name="Discussion title 1"/>
          <p:cNvSpPr txBox="1"/>
          <p:nvPr/>
        </p:nvSpPr>
        <p:spPr>
          <a:xfrm>
            <a:off x="123444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worked</a:t>
            </a:r>
            <a:endParaRPr lang="en-US" sz="1700" dirty="0"/>
          </a:p>
        </p:txBody>
      </p:sp>
      <p:sp>
        <p:nvSpPr>
          <p:cNvPr id="7" name="Discussion list 1"/>
          <p:cNvSpPr txBox="1"/>
          <p:nvPr/>
        </p:nvSpPr>
        <p:spPr>
          <a:xfrm>
            <a:off x="640080" y="201168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Held-out accuracy of 99% on real PE samples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Gating kept ML from escalating on its 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Cap and decay ended runaway scores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Warm in-process model: ~75 ms per scan</a:t>
            </a:r>
            <a:endParaRPr lang="en-US" sz="1300" dirty="0"/>
          </a:p>
        </p:txBody>
      </p:sp>
      <p:sp>
        <p:nvSpPr>
          <p:cNvPr id="8" name="Discussion card 2"/>
          <p:cNvSpPr/>
          <p:nvPr/>
        </p:nvSpPr>
        <p:spPr>
          <a:xfrm>
            <a:off x="3291840" y="123444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Limitations tile"/>
          <p:cNvSpPr/>
          <p:nvPr/>
        </p:nvSpPr>
        <p:spPr>
          <a:xfrm>
            <a:off x="3474720" y="13898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0" name="Limitations icon" descr="Limit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504188"/>
            <a:ext cx="228600" cy="228600"/>
          </a:xfrm>
          <a:prstGeom prst="rect">
            <a:avLst/>
          </a:prstGeom>
        </p:spPr>
      </p:pic>
      <p:sp>
        <p:nvSpPr>
          <p:cNvPr id="11" name="Discussion title 2"/>
          <p:cNvSpPr txBox="1"/>
          <p:nvPr/>
        </p:nvSpPr>
        <p:spPr>
          <a:xfrm>
            <a:off x="40690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Limitations</a:t>
            </a:r>
            <a:endParaRPr lang="en-US" sz="1700" dirty="0"/>
          </a:p>
        </p:txBody>
      </p:sp>
      <p:sp>
        <p:nvSpPr>
          <p:cNvPr id="12" name="Discussion list 2"/>
          <p:cNvSpPr txBox="1"/>
          <p:nvPr/>
        </p:nvSpPr>
        <p:spPr>
          <a:xfrm>
            <a:off x="3474720" y="201168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Static capability can't tell overlays from keyloggers, hence the allowlist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Keylogger layer is rules, not trained: no public labeled 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ML learns general malware, not keylogging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Live monitoring is Windows-only</a:t>
            </a:r>
            <a:endParaRPr lang="en-US" sz="1300" dirty="0"/>
          </a:p>
        </p:txBody>
      </p:sp>
      <p:sp>
        <p:nvSpPr>
          <p:cNvPr id="13" name="Discussion card 3"/>
          <p:cNvSpPr/>
          <p:nvPr/>
        </p:nvSpPr>
        <p:spPr>
          <a:xfrm>
            <a:off x="6126480" y="1234440"/>
            <a:ext cx="2560320" cy="3429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Future work tile"/>
          <p:cNvSpPr/>
          <p:nvPr/>
        </p:nvSpPr>
        <p:spPr>
          <a:xfrm>
            <a:off x="6309360" y="13898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5" name="Future work icon" descr="Future 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504188"/>
            <a:ext cx="228600" cy="228600"/>
          </a:xfrm>
          <a:prstGeom prst="rect">
            <a:avLst/>
          </a:prstGeom>
        </p:spPr>
      </p:pic>
      <p:sp>
        <p:nvSpPr>
          <p:cNvPr id="16" name="Discussion title 3"/>
          <p:cNvSpPr txBox="1"/>
          <p:nvPr/>
        </p:nvSpPr>
        <p:spPr>
          <a:xfrm>
            <a:off x="690372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Future work</a:t>
            </a:r>
            <a:endParaRPr lang="en-US" sz="1700" dirty="0"/>
          </a:p>
        </p:txBody>
      </p:sp>
      <p:sp>
        <p:nvSpPr>
          <p:cNvPr id="17" name="Discussion list 3"/>
          <p:cNvSpPr txBox="1"/>
          <p:nvPr/>
        </p:nvSpPr>
        <p:spPr>
          <a:xfrm>
            <a:off x="6309360" y="201168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Publisher-based trust instead of name-only allowlist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Alert and log export for central monitoring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 against more benign overlay and macro apps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Optional dynamic evidence per process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Reference list"/>
          <p:cNvSpPr txBox="1"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[1] S. Ortolani, C. Giuffrida, and B. Crispo, "Bait Your Hook: A Novel Detection Technique for Keyloggers," in Recent Advances in Intrusion Detection (RAID), Springer, 2010.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[2] S. Ortolani, C. Giuffrida, and B. Crispo, "KLIMAX: Profiling Memory Write Patterns to Detect Keystroke-Harvesting Malware," in RAID, Springer, 2011.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[3] MITRE ATT&amp;CK, "Input Capture: Keylogging (T1056.001)." attack.mitre.org/techniques/T1056/001/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[4] A. Kumar, K. S. Kuppusamy, and G. Aghila, "A learning model to detect maliciousness of portable executable using integrated feature set," J. King Saud Univ. Comput. Inf. Sci., vol. 31, no. 2, 2019.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[5] H. S. Anderson and P. Roth, "EMBER: An Open Dataset for Training Static PE Malware Machine Learning Models," arXiv:1804.04637, 2018.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[6] E. Raff et al., "Malware Detection by Eating a Whole EXE," AAAI-18 Workshop on AI for Cyber Security, 2018.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[7] L. Breiman, "Random Forests," Machine Learning, vol. 45, no. 1, pp. 5-32, 2001.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[8] F. Pedregosa et al., "Scikit-learn: Machine Learning in Python," J. Mach. Learn. Res., vol. 12, pp. 2825-2830, 2011.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[9] Microsoft, "SetWindowsHookExA function (winuser.h)," Microsoft Learn documentation.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3" name="Takeaway card 1"/>
          <p:cNvSpPr/>
          <p:nvPr/>
        </p:nvSpPr>
        <p:spPr>
          <a:xfrm>
            <a:off x="457200" y="123444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hree independent signals tile"/>
          <p:cNvSpPr/>
          <p:nvPr/>
        </p:nvSpPr>
        <p:spPr>
          <a:xfrm>
            <a:off x="640080" y="150876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hree independent signals icon" descr="Three independent sign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34490"/>
            <a:ext cx="251460" cy="251460"/>
          </a:xfrm>
          <a:prstGeom prst="rect">
            <a:avLst/>
          </a:prstGeom>
        </p:spPr>
      </p:pic>
      <p:sp>
        <p:nvSpPr>
          <p:cNvPr id="6" name="Takeaway title 1"/>
          <p:cNvSpPr txBox="1"/>
          <p:nvPr/>
        </p:nvSpPr>
        <p:spPr>
          <a:xfrm>
            <a:off x="1325880" y="13624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Three independent signals</a:t>
            </a:r>
            <a:endParaRPr lang="en-US" sz="1600" dirty="0"/>
          </a:p>
        </p:txBody>
      </p:sp>
      <p:sp>
        <p:nvSpPr>
          <p:cNvPr id="7" name="Takeaway body 1"/>
          <p:cNvSpPr txBox="1"/>
          <p:nvPr/>
        </p:nvSpPr>
        <p:spPr>
          <a:xfrm>
            <a:off x="1325880" y="1655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Rules, malware ML and an ATT&amp;CK API fingerprint work together.</a:t>
            </a:r>
            <a:endParaRPr lang="en-US" sz="1300" dirty="0"/>
          </a:p>
        </p:txBody>
      </p:sp>
      <p:sp>
        <p:nvSpPr>
          <p:cNvPr id="8" name="Takeaway card 2"/>
          <p:cNvSpPr/>
          <p:nvPr/>
        </p:nvSpPr>
        <p:spPr>
          <a:xfrm>
            <a:off x="4663440" y="123444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mplify, never create tile"/>
          <p:cNvSpPr/>
          <p:nvPr/>
        </p:nvSpPr>
        <p:spPr>
          <a:xfrm>
            <a:off x="4846320" y="150876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mplify, never create icon" descr="Amplify, never cre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1634490"/>
            <a:ext cx="251460" cy="251460"/>
          </a:xfrm>
          <a:prstGeom prst="rect">
            <a:avLst/>
          </a:prstGeom>
        </p:spPr>
      </p:pic>
      <p:sp>
        <p:nvSpPr>
          <p:cNvPr id="11" name="Takeaway title 2"/>
          <p:cNvSpPr txBox="1"/>
          <p:nvPr/>
        </p:nvSpPr>
        <p:spPr>
          <a:xfrm>
            <a:off x="5532120" y="13624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Amplify, never create</a:t>
            </a:r>
            <a:endParaRPr lang="en-US" sz="1600" dirty="0"/>
          </a:p>
        </p:txBody>
      </p:sp>
      <p:sp>
        <p:nvSpPr>
          <p:cNvPr id="12" name="Takeaway body 2"/>
          <p:cNvSpPr txBox="1"/>
          <p:nvPr/>
        </p:nvSpPr>
        <p:spPr>
          <a:xfrm>
            <a:off x="5532120" y="1655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No model can raise risk without a rule-based trigger.</a:t>
            </a:r>
            <a:endParaRPr lang="en-US" sz="1300" dirty="0"/>
          </a:p>
        </p:txBody>
      </p:sp>
      <p:sp>
        <p:nvSpPr>
          <p:cNvPr id="13" name="Takeaway card 3"/>
          <p:cNvSpPr/>
          <p:nvPr/>
        </p:nvSpPr>
        <p:spPr>
          <a:xfrm>
            <a:off x="457200" y="24231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ersistence over snapshots tile"/>
          <p:cNvSpPr/>
          <p:nvPr/>
        </p:nvSpPr>
        <p:spPr>
          <a:xfrm>
            <a:off x="640080" y="269748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ersistence over snapshots icon" descr="Persistence over snapsh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2823210"/>
            <a:ext cx="251460" cy="251460"/>
          </a:xfrm>
          <a:prstGeom prst="rect">
            <a:avLst/>
          </a:prstGeom>
        </p:spPr>
      </p:pic>
      <p:sp>
        <p:nvSpPr>
          <p:cNvPr id="16" name="Takeaway title 3"/>
          <p:cNvSpPr txBox="1"/>
          <p:nvPr/>
        </p:nvSpPr>
        <p:spPr>
          <a:xfrm>
            <a:off x="1325880" y="2551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Persistence over snapshots</a:t>
            </a:r>
            <a:endParaRPr lang="en-US" sz="1600" dirty="0"/>
          </a:p>
        </p:txBody>
      </p:sp>
      <p:sp>
        <p:nvSpPr>
          <p:cNvPr id="17" name="Takeaway body 3"/>
          <p:cNvSpPr txBox="1"/>
          <p:nvPr/>
        </p:nvSpPr>
        <p:spPr>
          <a:xfrm>
            <a:off x="1325880" y="28437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Gating, decay and a cap keep scores meaningful.</a:t>
            </a:r>
            <a:endParaRPr lang="en-US" sz="1300" dirty="0"/>
          </a:p>
        </p:txBody>
      </p:sp>
      <p:sp>
        <p:nvSpPr>
          <p:cNvPr id="18" name="Takeaway card 4"/>
          <p:cNvSpPr/>
          <p:nvPr/>
        </p:nvSpPr>
        <p:spPr>
          <a:xfrm>
            <a:off x="4663440" y="24231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Explainable by design tile"/>
          <p:cNvSpPr/>
          <p:nvPr/>
        </p:nvSpPr>
        <p:spPr>
          <a:xfrm>
            <a:off x="4846320" y="2697480"/>
            <a:ext cx="50292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Explainable by design icon" descr="Explainable by de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050" y="2823210"/>
            <a:ext cx="251460" cy="251460"/>
          </a:xfrm>
          <a:prstGeom prst="rect">
            <a:avLst/>
          </a:prstGeom>
        </p:spPr>
      </p:pic>
      <p:sp>
        <p:nvSpPr>
          <p:cNvPr id="21" name="Takeaway title 4"/>
          <p:cNvSpPr txBox="1"/>
          <p:nvPr/>
        </p:nvSpPr>
        <p:spPr>
          <a:xfrm>
            <a:off x="5532120" y="2551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Explainable by design</a:t>
            </a:r>
            <a:endParaRPr lang="en-US" sz="1600" dirty="0"/>
          </a:p>
        </p:txBody>
      </p:sp>
      <p:sp>
        <p:nvSpPr>
          <p:cNvPr id="22" name="Takeaway body 4"/>
          <p:cNvSpPr txBox="1"/>
          <p:nvPr/>
        </p:nvSpPr>
        <p:spPr>
          <a:xfrm>
            <a:off x="5532120" y="28437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Every point traces to a named event or API.</a:t>
            </a:r>
            <a:endParaRPr lang="en-US" sz="1300" dirty="0"/>
          </a:p>
        </p:txBody>
      </p:sp>
      <p:sp>
        <p:nvSpPr>
          <p:cNvPr id="23" name="Closing line"/>
          <p:cNvSpPr txBox="1"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does not imply intent. Persistence amplifies risk; it never creates it.</a:t>
            </a:r>
            <a:endParaRPr lang="en-US" sz="2000" dirty="0"/>
          </a:p>
        </p:txBody>
      </p:sp>
      <p:sp>
        <p:nvSpPr>
          <p:cNvPr id="24" name="Thank you"/>
          <p:cNvSpPr txBox="1"/>
          <p:nvPr/>
        </p:nvSpPr>
        <p:spPr>
          <a:xfrm>
            <a:off x="45720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Thank you. Questions?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ok Detector">
  <a:themeElements>
    <a:clrScheme name="Hook Detector">
      <a:dk1>
        <a:srgbClr val="0F172A"/>
      </a:dk1>
      <a:lt1>
        <a:srgbClr val="FFFFFF"/>
      </a:lt1>
      <a:dk2>
        <a:srgbClr val="334155"/>
      </a:dk2>
      <a:lt2>
        <a:srgbClr val="F1F5F9"/>
      </a:lt2>
      <a:accent1>
        <a:srgbClr val="0EA5A4"/>
      </a:accent1>
      <a:accent2>
        <a:srgbClr val="F59E0B"/>
      </a:accent2>
      <a:accent3>
        <a:srgbClr val="EF4444"/>
      </a:accent3>
      <a:accent4>
        <a:srgbClr val="22C55E"/>
      </a:accent4>
      <a:accent5>
        <a:srgbClr val="6366F1"/>
      </a:accent5>
      <a:accent6>
        <a:srgbClr val="94A3B8"/>
      </a:accent6>
      <a:hlink>
        <a:srgbClr val="0EA5A4"/>
      </a:hlink>
      <a:folHlink>
        <a:srgbClr val="6366F1"/>
      </a:folHlink>
    </a:clrScheme>
    <a:fontScheme name="Hook Detect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Keyboard Hook Behavioral Detector</dc:title>
  <dc:subject>Project presentation</dc:subject>
  <dc:creator>PptxGenJS</dc:creator>
  <cp:lastModifiedBy>PptxGenJS</cp:lastModifiedBy>
  <cp:revision>1</cp:revision>
  <dcterms:created xsi:type="dcterms:W3CDTF">2026-10-14T04:30:39Z</dcterms:created>
  <dcterms:modified xsi:type="dcterms:W3CDTF">2026-10-14T04:30:39Z</dcterms:modified>
</cp:coreProperties>
</file>