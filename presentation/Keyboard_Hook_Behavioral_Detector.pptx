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ca5f4eac-b618-bd54-38a7-04d493d91831}">
          <p14:sldIdLst>
            <p14:sldId id="256"/>
            <p14:sldId id="257"/>
          </p14:sldIdLst>
        </p14:section>
        <p14:section name="Introduction" id="{85187d10-ec71-e659-9d48-d87ecd8945b8}">
          <p14:sldIdLst>
            <p14:sldId id="258"/>
          </p14:sldIdLst>
        </p14:section>
        <p14:section name="Problem Definition" id="{8df79e76-4ce5-be65-ed1c-b13787bb6544}">
          <p14:sldIdLst>
            <p14:sldId id="259"/>
          </p14:sldIdLst>
        </p14:section>
        <p14:section name="Literature Survey" id="{2428ff5c-8ef2-14dd-53e3-938f23e28033}">
          <p14:sldIdLst>
            <p14:sldId id="260"/>
            <p14:sldId id="261"/>
            <p14:sldId id="262"/>
            <p14:sldId id="263"/>
            <p14:sldId id="264"/>
          </p14:sldIdLst>
        </p14:section>
        <p14:section name="Inferences" id="{ab2d6f93-261d-33ec-9743-70ecc1ec6541}">
          <p14:sldIdLst>
            <p14:sldId id="265"/>
          </p14:sldIdLst>
        </p14:section>
        <p14:section name="Proposed System" id="{1489614a-4f95-6f2a-9474-ffc429f1683b}">
          <p14:sldIdLst>
            <p14:sldId id="266"/>
            <p14:sldId id="267"/>
          </p14:sldIdLst>
        </p14:section>
        <p14:section name="Architecture" id="{0caf587c-f262-1462-bf9a-a417a56c2144}">
          <p14:sldIdLst>
            <p14:sldId id="268"/>
            <p14:sldId id="269"/>
          </p14:sldIdLst>
        </p14:section>
        <p14:section name="Implementation" id="{4e386603-fb23-75b8-0693-4dfe4a44aff5}">
          <p14:sldIdLst>
            <p14:sldId id="270"/>
            <p14:sldId id="271"/>
            <p14:sldId id="272"/>
          </p14:sldIdLst>
        </p14:section>
        <p14:section name="Results and Discussions" id="{4fd66c17-f8b0-2f70-4cd2-05f1f8f21fd4}">
          <p14:sldIdLst>
            <p14:sldId id="273"/>
            <p14:sldId id="274"/>
            <p14:sldId id="275"/>
            <p14:sldId id="276"/>
            <p14:sldId id="277"/>
            <p14:sldId id="278"/>
            <p14:sldId id="279"/>
            <p14:sldId id="280"/>
          </p14:sldIdLst>
        </p14:section>
        <p14:section name="References" id="{699774ea-a01a-9007-ce99-f5abc35fdf59}">
          <p14:sldIdLst>
            <p14:sldId id="281"/>
            <p14:sldId id="282"/>
            <p14:sldId id="283"/>
          </p14:sldIdLst>
        </p14:section>
        <p14:section name="Conclusion" id="{c2381ac1-3e70-1247-36af-c6b203281d0a}">
          <p14:sldIdLst>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2F6B2A"/>
            </a:solidFill>
            <a:effectLst/>
          </c:spPr>
          <c:invertIfNegative val="0"/>
          <c:dLbls>
            <c:numFmt formatCode="0.000" sourceLinked="0"/>
            <c:txPr>
              <a:bodyPr/>
              <a:lstStyle/>
              <a:p>
                <a:pPr>
                  <a:defRPr b="0" i="0" strike="noStrike" sz="1400" u="none">
                    <a:solidFill>
                      <a:srgbClr val="17391B"/>
                    </a:solidFill>
                    <a:latin typeface="+mn-lt"/>
                  </a:defRPr>
                </a:pPr>
              </a:p>
            </c:txPr>
            <c:showLegendKey val="0"/>
            <c:showVal val="1"/>
            <c:showCatName val="0"/>
            <c:showSerName val="0"/>
            <c:showPercent val="0"/>
            <c:showBubbleSize val="0"/>
            <c:showLeaderLines val="0"/>
          </c:dLbls>
          <c:cat>
            <c:multiLvlStrRef>
              <c:f>Sheet1!$A$2:$A$9</c:f>
              <c:multiLvlStrCache>
                <c:ptCount val="8"/>
                <c:lvl>
                  <c:pt idx="0">
                    <c:v>FH_char12</c:v>
                  </c:pt>
                  <c:pt idx="1">
                    <c:v>CheckSum</c:v>
                  </c:pt>
                  <c:pt idx="2">
                    <c:v>E_file</c:v>
                  </c:pt>
                  <c:pt idx="3">
                    <c:v>OH_DLLchar2</c:v>
                  </c:pt>
                  <c:pt idx="4">
                    <c:v>OH_DLLchar0</c:v>
                  </c:pt>
                  <c:pt idx="5">
                    <c:v>fileinfo</c:v>
                  </c:pt>
                  <c:pt idx="6">
                    <c:v>filesize</c:v>
                  </c:pt>
                  <c:pt idx="7">
                    <c:v>FH_char0</c:v>
                  </c:pt>
                </c:lvl>
              </c:multiLvlStrCache>
            </c:multiLvlStrRef>
          </c:cat>
          <c:val>
            <c:numRef>
              <c:f>Sheet1!$B$2:$B$9</c:f>
              <c:numCache>
                <c:formatCode>General</c:formatCode>
                <c:ptCount val="8"/>
                <c:pt idx="0">
                  <c:v>0.1754</c:v>
                </c:pt>
                <c:pt idx="1">
                  <c:v>0.0818</c:v>
                </c:pt>
                <c:pt idx="2">
                  <c:v>0.0749</c:v>
                </c:pt>
                <c:pt idx="3">
                  <c:v>0.0618</c:v>
                </c:pt>
                <c:pt idx="4">
                  <c:v>0.0529</c:v>
                </c:pt>
                <c:pt idx="5">
                  <c:v>0.0508</c:v>
                </c:pt>
                <c:pt idx="6">
                  <c:v>0.0437</c:v>
                </c:pt>
                <c:pt idx="7">
                  <c:v>0.0436</c:v>
                </c:pt>
              </c:numCache>
            </c:numRef>
          </c:val>
        </c:ser>
        <c:dLbls>
          <c:numFmt formatCode="0.000" sourceLinked="0"/>
          <c:txPr>
            <a:bodyPr/>
            <a:lstStyle/>
            <a:p>
              <a:pPr>
                <a:defRPr b="0" i="0" strike="noStrike" sz="1400" u="none">
                  <a:solidFill>
                    <a:srgbClr val="17391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7391B"/>
                </a:solidFill>
                <a:latin typeface="+mn-lt"/>
              </a:defRPr>
            </a:pPr>
            <a:endParaRPr lang="en-US"/>
          </a:p>
        </c:txPr>
        <c:crossAx val="2094734552"/>
        <c:crosses val="autoZero"/>
        <c:auto val="1"/>
        <c:lblAlgn val="ctr"/>
        <c:noMultiLvlLbl val="1"/>
      </c:catAx>
      <c:valAx>
        <c:axId val="2094734552"/>
        <c:scaling>
          <c:orientation val="minMax"/>
          <c:max val="0.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Risk score</c:v>
                </c:pt>
              </c:strCache>
            </c:strRef>
          </c:tx>
          <c:spPr>
            <a:solidFill>
              <a:srgbClr val="17391B"/>
            </a:solidFill>
            <a:ln w="38100" cap="flat">
              <a:solidFill>
                <a:srgbClr val="17391B"/>
              </a:solidFill>
              <a:prstDash val="solid,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391B"/>
              </a:solidFill>
              <a:ln w="9525" cap="flat">
                <a:solidFill>
                  <a:srgbClr val="17391B"/>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Sheet1!$B$2:$B$19</c:f>
              <c:numCache>
                <c:formatCode>General</c:formatCode>
                <c:ptCount val="18"/>
                <c:pt idx="0">
                  <c:v>26</c:v>
                </c:pt>
                <c:pt idx="1">
                  <c:v>47</c:v>
                </c:pt>
                <c:pt idx="2">
                  <c:v>93</c:v>
                </c:pt>
                <c:pt idx="3">
                  <c:v>88</c:v>
                </c:pt>
                <c:pt idx="4">
                  <c:v>134</c:v>
                </c:pt>
                <c:pt idx="5">
                  <c:v>129</c:v>
                </c:pt>
                <c:pt idx="6">
                  <c:v>124</c:v>
                </c:pt>
                <c:pt idx="7">
                  <c:v>119</c:v>
                </c:pt>
                <c:pt idx="8">
                  <c:v>114</c:v>
                </c:pt>
                <c:pt idx="9">
                  <c:v>109</c:v>
                </c:pt>
                <c:pt idx="10">
                  <c:v>104</c:v>
                </c:pt>
                <c:pt idx="11">
                  <c:v>99</c:v>
                </c:pt>
                <c:pt idx="12">
                  <c:v>94</c:v>
                </c:pt>
                <c:pt idx="13">
                  <c:v>89</c:v>
                </c:pt>
                <c:pt idx="14">
                  <c:v>84</c:v>
                </c:pt>
                <c:pt idx="15">
                  <c:v>79</c:v>
                </c:pt>
                <c:pt idx="16">
                  <c:v>74</c:v>
                </c:pt>
                <c:pt idx="17">
                  <c:v>69</c:v>
                </c:pt>
              </c:numCache>
            </c:numRef>
          </c:val>
          <c:smooth val="0"/>
        </c:ser>
        <c:ser>
          <c:idx val="1"/>
          <c:order val="1"/>
          <c:tx>
            <c:strRef>
              <c:f>Sheet1!$C$1</c:f>
              <c:strCache>
                <c:ptCount val="1"/>
                <c:pt idx="0">
                  <c:v>HIGH threshold (60)</c:v>
                </c:pt>
              </c:strCache>
            </c:strRef>
          </c:tx>
          <c:spPr>
            <a:solidFill>
              <a:srgbClr val="A93226"/>
            </a:solidFill>
            <a:ln w="38100" cap="flat">
              <a:solidFill>
                <a:srgbClr val="A93226"/>
              </a:solidFill>
              <a:prstDash val="solid,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93226"/>
              </a:solidFill>
              <a:ln w="9525" cap="flat">
                <a:solidFill>
                  <a:srgbClr val="A93226"/>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Sheet1!$C$2:$C$19</c:f>
              <c:numCache>
                <c:formatCode>General</c:formatCode>
                <c:ptCount val="18"/>
                <c:pt idx="0">
                  <c:v>60</c:v>
                </c:pt>
                <c:pt idx="1">
                  <c:v>60</c:v>
                </c:pt>
                <c:pt idx="2">
                  <c:v>60</c:v>
                </c:pt>
                <c:pt idx="3">
                  <c:v>60</c:v>
                </c:pt>
                <c:pt idx="4">
                  <c:v>60</c:v>
                </c:pt>
                <c:pt idx="5">
                  <c:v>60</c:v>
                </c:pt>
                <c:pt idx="6">
                  <c:v>60</c:v>
                </c:pt>
                <c:pt idx="7">
                  <c:v>60</c:v>
                </c:pt>
                <c:pt idx="8">
                  <c:v>60</c:v>
                </c:pt>
                <c:pt idx="9">
                  <c:v>60</c:v>
                </c:pt>
                <c:pt idx="10">
                  <c:v>60</c:v>
                </c:pt>
                <c:pt idx="11">
                  <c:v>60</c:v>
                </c:pt>
                <c:pt idx="12">
                  <c:v>60</c:v>
                </c:pt>
                <c:pt idx="13">
                  <c:v>60</c:v>
                </c:pt>
                <c:pt idx="14">
                  <c:v>60</c:v>
                </c:pt>
                <c:pt idx="15">
                  <c:v>60</c:v>
                </c:pt>
                <c:pt idx="16">
                  <c:v>60</c:v>
                </c:pt>
                <c:pt idx="17">
                  <c:v>60</c:v>
                </c:pt>
              </c:numCache>
            </c:numRef>
          </c:val>
          <c:smooth val="0"/>
        </c:ser>
        <c:ser>
          <c:idx val="2"/>
          <c:order val="2"/>
          <c:tx>
            <c:strRef>
              <c:f>Sheet1!$D$1</c:f>
              <c:strCache>
                <c:ptCount val="1"/>
                <c:pt idx="0">
                  <c:v>MEDIUM threshold (30)</c:v>
                </c:pt>
              </c:strCache>
            </c:strRef>
          </c:tx>
          <c:spPr>
            <a:solidFill>
              <a:srgbClr val="B7791F"/>
            </a:solidFill>
            <a:ln w="38100" cap="flat">
              <a:solidFill>
                <a:srgbClr val="B7791F"/>
              </a:solidFill>
              <a:prstDash val="solid,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7791F"/>
              </a:solidFill>
              <a:ln w="9525" cap="flat">
                <a:solidFill>
                  <a:srgbClr val="B7791F"/>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Sheet1!$D$2:$D$19</c:f>
              <c:numCache>
                <c:formatCode>General</c:formatCode>
                <c:ptCount val="18"/>
                <c:pt idx="0">
                  <c:v>30</c:v>
                </c:pt>
                <c:pt idx="1">
                  <c:v>30</c:v>
                </c:pt>
                <c:pt idx="2">
                  <c:v>30</c:v>
                </c:pt>
                <c:pt idx="3">
                  <c:v>30</c:v>
                </c:pt>
                <c:pt idx="4">
                  <c:v>30</c:v>
                </c:pt>
                <c:pt idx="5">
                  <c:v>30</c:v>
                </c:pt>
                <c:pt idx="6">
                  <c:v>30</c:v>
                </c:pt>
                <c:pt idx="7">
                  <c:v>30</c:v>
                </c:pt>
                <c:pt idx="8">
                  <c:v>30</c:v>
                </c:pt>
                <c:pt idx="9">
                  <c:v>30</c:v>
                </c:pt>
                <c:pt idx="10">
                  <c:v>30</c:v>
                </c:pt>
                <c:pt idx="11">
                  <c:v>30</c:v>
                </c:pt>
                <c:pt idx="12">
                  <c:v>30</c:v>
                </c:pt>
                <c:pt idx="13">
                  <c:v>30</c:v>
                </c:pt>
                <c:pt idx="14">
                  <c:v>30</c:v>
                </c:pt>
                <c:pt idx="15">
                  <c:v>30</c:v>
                </c:pt>
                <c:pt idx="16">
                  <c:v>30</c:v>
                </c:pt>
                <c:pt idx="17">
                  <c:v>30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17391B"/>
                    </a:solidFill>
                    <a:latin typeface="+mn-lt"/>
                  </a:defRPr>
                </a:pPr>
                <a:r>
                  <a:rPr sz="1300" b="0" i="0" u="none" strike="noStrike">
                    <a:solidFill>
                      <a:srgbClr val="17391B"/>
                    </a:solidFill>
                    <a:latin typeface="+mn-lt"/>
                  </a:rPr>
                  <a:t>Analysis cycle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7391B"/>
                </a:solidFill>
                <a:latin typeface="+mn-lt"/>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C9CEC6"/>
              </a:solidFill>
              <a:prstDash val="solid"/>
              <a:round/>
            </a:ln>
          </c:spPr>
        </c:majorGridlines>
        <c:title>
          <c:tx>
            <c:rich>
              <a:bodyPr/>
              <a:lstStyle/>
              <a:p>
                <a:pPr>
                  <a:defRPr sz="1300" b="0" i="0" u="none" strike="noStrike">
                    <a:solidFill>
                      <a:srgbClr val="17391B"/>
                    </a:solidFill>
                    <a:latin typeface="+mn-lt"/>
                  </a:defRPr>
                </a:pPr>
                <a:r>
                  <a:rPr sz="1300" b="0" i="0" u="none" strike="noStrike">
                    <a:solidFill>
                      <a:srgbClr val="17391B"/>
                    </a:solidFill>
                    <a:latin typeface="+mn-lt"/>
                  </a:rPr>
                  <a:t>Risk score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17391B"/>
                </a:solidFill>
                <a:latin typeface="+mn-lt"/>
              </a:defRPr>
            </a:pPr>
            <a:endParaRPr lang="en-US"/>
          </a:p>
        </c:txPr>
        <c:crossAx val="2094734554"/>
        <c:crosses val="autoZero"/>
        <c:crossBetween val="between"/>
        <c:majorUnit val="30"/>
      </c:valAx>
      <c:spPr>
        <a:noFill/>
        <a:ln>
          <a:noFill/>
        </a:ln>
        <a:effectLst/>
      </c:spPr>
    </c:plotArea>
    <c:legend>
      <c:legendPos val="b"/>
      <c:overlay val="0"/>
      <c:txPr>
        <a:bodyPr/>
        <a:lstStyle/>
        <a:p>
          <a:pPr>
            <a:defRPr sz="1300">
              <a:solidFill>
                <a:srgbClr val="17391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Windows user-mode tool that finds processes capable of installing keyboard hooks and judges their risk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are a normal Windows feature, which is why keylogger detection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as a precision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are listed with their key finding and the limitation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are listed with their key finding and the limitation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are listed with their key finding and the limitation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are listed with their key finding and the limitation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are listed with their key finding and the limitation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is capped at 150 and decays by 5 per analysis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calls the scanner and analyzer in-process so the ML model stays warm. The dashboard and CLI only read temporal_state.json.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301752" y="6245352"/>
            <a:ext cx="11585448" cy="0"/>
          </a:xfrm>
          <a:prstGeom prst="line">
            <a:avLst/>
          </a:prstGeom>
          <a:noFill/>
          <a:ln w="9525">
            <a:solidFill>
              <a:schemeClr val="tx1"/>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301752" y="6245352"/>
            <a:ext cx="11585448" cy="0"/>
          </a:xfrm>
          <a:prstGeom prst="line">
            <a:avLst/>
          </a:prstGeom>
          <a:noFill/>
          <a:ln w="9525">
            <a:solidFill>
              <a:schemeClr val="tx1"/>
            </a:solidFill>
            <a:prstDash val="solid"/>
          </a:ln>
        </p:spPr>
      </p:sp>
      <p:sp>
        <p:nvSpPr>
          <p:cNvPr id="3" name="Text 1"/>
          <p:cNvSpPr/>
          <p:nvPr>
            <p:ph idx="101" type="title" hasCustomPrompt="1"/>
          </p:nvPr>
        </p:nvSpPr>
        <p:spPr>
          <a:xfrm>
            <a:off x="365760" y="274320"/>
            <a:ext cx="11430000" cy="914400"/>
          </a:xfrm>
          <a:prstGeom prst="rect">
            <a:avLst/>
          </a:prstGeom>
          <a:noFill/>
          <a:ln/>
        </p:spPr>
        <p:txBody>
          <a:bodyPr wrap="square" rtlCol="0"/>
          <a:lstStyle>
            <a:lvl1pPr algn="l" indent="0" marL="0">
              <a:buNone/>
              <a:defRPr lang="en-US" sz="3800" dirty="0">
                <a:solidFill>
                  <a:schemeClr val="tx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301752" y="484632"/>
            <a:ext cx="11585448" cy="0"/>
          </a:xfrm>
          <a:prstGeom prst="line">
            <a:avLst/>
          </a:prstGeom>
          <a:noFill/>
          <a:ln w="9525">
            <a:solidFill>
              <a:schemeClr val="bg1"/>
            </a:solidFill>
            <a:prstDash val="solid"/>
          </a:ln>
        </p:spPr>
      </p:sp>
      <p:sp>
        <p:nvSpPr>
          <p:cNvPr id="3" name="Shape 1"/>
          <p:cNvSpPr/>
          <p:nvPr/>
        </p:nvSpPr>
        <p:spPr>
          <a:xfrm>
            <a:off x="301752" y="6245352"/>
            <a:ext cx="11585448" cy="0"/>
          </a:xfrm>
          <a:prstGeom prst="line">
            <a:avLst/>
          </a:prstGeom>
          <a:noFill/>
          <a:ln w="9525">
            <a:solidFill>
              <a:schemeClr val="bg1"/>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914400" y="1737360"/>
            <a:ext cx="10332720" cy="2011680"/>
          </a:xfrm>
          <a:prstGeom prst="rect">
            <a:avLst/>
          </a:prstGeom>
          <a:noFill/>
          <a:ln/>
        </p:spPr>
        <p:txBody>
          <a:bodyPr wrap="square" lIns="0" tIns="0" rIns="0" bIns="0" rtlCol="0" anchor="ctr"/>
          <a:lstStyle/>
          <a:p>
            <a:pPr algn="ctr" indent="0" marL="0">
              <a:buNone/>
            </a:pPr>
            <a:r>
              <a:rPr lang="en-US" sz="4800" b="1" dirty="0">
                <a:solidFill>
                  <a:schemeClr val="tx2"/>
                </a:solidFill>
              </a:rPr>
              <a:t>KEYBOARD HOOK BEHAVIORAL DETECTOR</a:t>
            </a:r>
            <a:endParaRPr lang="en-US" sz="4800" dirty="0"/>
          </a:p>
        </p:txBody>
      </p:sp>
      <p:sp>
        <p:nvSpPr>
          <p:cNvPr id="3" name="Subtitle"/>
          <p:cNvSpPr txBox="1"/>
          <p:nvPr/>
        </p:nvSpPr>
        <p:spPr>
          <a:xfrm>
            <a:off x="914400" y="3749040"/>
            <a:ext cx="10332720" cy="548640"/>
          </a:xfrm>
          <a:prstGeom prst="rect">
            <a:avLst/>
          </a:prstGeom>
          <a:noFill/>
          <a:ln/>
        </p:spPr>
        <p:txBody>
          <a:bodyPr wrap="square" lIns="0" tIns="0" rIns="0" bIns="0" rtlCol="0" anchor="t"/>
          <a:lstStyle/>
          <a:p>
            <a:pPr algn="ctr" indent="0" marL="0">
              <a:buNone/>
            </a:pPr>
            <a:r>
              <a:rPr lang="en-US" sz="2200" dirty="0">
                <a:solidFill>
                  <a:schemeClr val="tx1"/>
                </a:solidFill>
              </a:rPr>
              <a:t>Layered, explainable risk scoring for keylogger-capable processes on Windows</a:t>
            </a:r>
            <a:endParaRPr lang="en-US" sz="2200" dirty="0"/>
          </a:p>
        </p:txBody>
      </p:sp>
      <p:sp>
        <p:nvSpPr>
          <p:cNvPr id="4" name="Presenter"/>
          <p:cNvSpPr txBox="1"/>
          <p:nvPr/>
        </p:nvSpPr>
        <p:spPr>
          <a:xfrm>
            <a:off x="9052560" y="4846320"/>
            <a:ext cx="2743200" cy="822960"/>
          </a:xfrm>
          <a:prstGeom prst="rect">
            <a:avLst/>
          </a:prstGeom>
          <a:noFill/>
          <a:ln/>
        </p:spPr>
        <p:txBody>
          <a:bodyPr wrap="square" lIns="0" tIns="0" rIns="0" bIns="0" rtlCol="0" anchor="t"/>
          <a:lstStyle/>
          <a:p>
            <a:pPr algn="l" indent="0" marL="0">
              <a:buNone/>
            </a:pPr>
            <a:r>
              <a:rPr lang="en-US" sz="2200" dirty="0">
                <a:solidFill>
                  <a:schemeClr val="tx1"/>
                </a:solidFill>
              </a:rPr>
              <a:t>Submitted By</a:t>
            </a:r>
            <a:endParaRPr lang="en-US" sz="2200" dirty="0"/>
          </a:p>
          <a:p>
            <a:pPr algn="l" indent="0" marL="0">
              <a:buNone/>
            </a:pPr>
            <a:r>
              <a:rPr lang="en-US" sz="2200" b="1" dirty="0">
                <a:solidFill>
                  <a:schemeClr val="tx1"/>
                </a:solidFill>
              </a:rPr>
              <a:t>Abijit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utline heading"/>
          <p:cNvSpPr txBox="1"/>
          <p:nvPr/>
        </p:nvSpPr>
        <p:spPr>
          <a:xfrm>
            <a:off x="365760" y="2743200"/>
            <a:ext cx="5029200" cy="1463040"/>
          </a:xfrm>
          <a:prstGeom prst="rect">
            <a:avLst/>
          </a:prstGeom>
          <a:noFill/>
          <a:ln/>
        </p:spPr>
        <p:txBody>
          <a:bodyPr wrap="square" lIns="0" tIns="0" rIns="0" bIns="0" rtlCol="0" anchor="ctr"/>
          <a:lstStyle/>
          <a:p>
            <a:pPr indent="0" marL="0">
              <a:buNone/>
            </a:pPr>
            <a:r>
              <a:rPr lang="en-US" sz="6000" dirty="0">
                <a:solidFill>
                  <a:schemeClr val="tx1"/>
                </a:solidFill>
              </a:rPr>
              <a:t>Outline</a:t>
            </a:r>
            <a:endParaRPr lang="en-US" sz="6000" dirty="0"/>
          </a:p>
        </p:txBody>
      </p:sp>
      <p:sp>
        <p:nvSpPr>
          <p:cNvPr id="3" name="Outline list"/>
          <p:cNvSpPr txBox="1"/>
          <p:nvPr/>
        </p:nvSpPr>
        <p:spPr>
          <a:xfrm>
            <a:off x="6400800" y="1188720"/>
            <a:ext cx="5303520" cy="4754880"/>
          </a:xfrm>
          <a:prstGeom prst="rect">
            <a:avLst/>
          </a:prstGeom>
          <a:noFill/>
          <a:ln/>
        </p:spPr>
        <p:txBody>
          <a:bodyPr wrap="square" lIns="0" tIns="0" rIns="0" bIns="0" rtlCol="0" anchor="ctr"/>
          <a:lstStyle/>
          <a:p>
            <a:pPr marL="342900" indent="-342900">
              <a:spcAft>
                <a:spcPts val="400"/>
              </a:spcAft>
              <a:buSzPct val="100000"/>
              <a:buChar char="•"/>
            </a:pPr>
            <a:r>
              <a:rPr lang="en-US" sz="2800" dirty="0">
                <a:solidFill>
                  <a:schemeClr val="tx1"/>
                </a:solidFill>
              </a:rPr>
              <a:t>Introduction</a:t>
            </a:r>
            <a:endParaRPr lang="en-US" sz="2800" dirty="0"/>
          </a:p>
          <a:p>
            <a:pPr marL="342900" indent="-342900">
              <a:spcAft>
                <a:spcPts val="400"/>
              </a:spcAft>
              <a:buSzPct val="100000"/>
              <a:buChar char="•"/>
            </a:pPr>
            <a:r>
              <a:rPr lang="en-US" sz="2800" dirty="0">
                <a:solidFill>
                  <a:schemeClr val="tx1"/>
                </a:solidFill>
              </a:rPr>
              <a:t>Problem Definition</a:t>
            </a:r>
            <a:endParaRPr lang="en-US" sz="2800" dirty="0"/>
          </a:p>
          <a:p>
            <a:pPr marL="342900" indent="-342900">
              <a:spcAft>
                <a:spcPts val="400"/>
              </a:spcAft>
              <a:buSzPct val="100000"/>
              <a:buChar char="•"/>
            </a:pPr>
            <a:r>
              <a:rPr lang="en-US" sz="2800" dirty="0">
                <a:solidFill>
                  <a:schemeClr val="tx1"/>
                </a:solidFill>
              </a:rPr>
              <a:t>Literature Survey</a:t>
            </a:r>
            <a:endParaRPr lang="en-US" sz="2800" dirty="0"/>
          </a:p>
          <a:p>
            <a:pPr marL="342900" indent="-342900">
              <a:spcAft>
                <a:spcPts val="400"/>
              </a:spcAft>
              <a:buSzPct val="100000"/>
              <a:buChar char="•"/>
            </a:pPr>
            <a:r>
              <a:rPr lang="en-US" sz="2800" dirty="0">
                <a:solidFill>
                  <a:schemeClr val="tx1"/>
                </a:solidFill>
              </a:rPr>
              <a:t>Inferences</a:t>
            </a:r>
            <a:endParaRPr lang="en-US" sz="2800" dirty="0"/>
          </a:p>
          <a:p>
            <a:pPr marL="342900" indent="-342900">
              <a:spcAft>
                <a:spcPts val="400"/>
              </a:spcAft>
              <a:buSzPct val="100000"/>
              <a:buChar char="•"/>
            </a:pPr>
            <a:r>
              <a:rPr lang="en-US" sz="2800" dirty="0">
                <a:solidFill>
                  <a:schemeClr val="tx1"/>
                </a:solidFill>
              </a:rPr>
              <a:t>Proposed System</a:t>
            </a:r>
            <a:endParaRPr lang="en-US" sz="2800" dirty="0"/>
          </a:p>
          <a:p>
            <a:pPr marL="342900" indent="-342900">
              <a:spcAft>
                <a:spcPts val="400"/>
              </a:spcAft>
              <a:buSzPct val="100000"/>
              <a:buChar char="•"/>
            </a:pPr>
            <a:r>
              <a:rPr lang="en-US" sz="2800" dirty="0">
                <a:solidFill>
                  <a:schemeClr val="tx1"/>
                </a:solidFill>
              </a:rPr>
              <a:t>Architecture</a:t>
            </a:r>
            <a:endParaRPr lang="en-US" sz="2800" dirty="0"/>
          </a:p>
          <a:p>
            <a:pPr marL="342900" indent="-342900">
              <a:spcAft>
                <a:spcPts val="400"/>
              </a:spcAft>
              <a:buSzPct val="100000"/>
              <a:buChar char="•"/>
            </a:pPr>
            <a:r>
              <a:rPr lang="en-US" sz="2800" dirty="0">
                <a:solidFill>
                  <a:schemeClr val="tx1"/>
                </a:solidFill>
              </a:rPr>
              <a:t>Implementation (Tools Used)</a:t>
            </a:r>
            <a:endParaRPr lang="en-US" sz="2800" dirty="0"/>
          </a:p>
          <a:p>
            <a:pPr marL="342900" indent="-342900">
              <a:spcAft>
                <a:spcPts val="400"/>
              </a:spcAft>
              <a:buSzPct val="100000"/>
              <a:buChar char="•"/>
            </a:pPr>
            <a:r>
              <a:rPr lang="en-US" sz="2800" dirty="0">
                <a:solidFill>
                  <a:schemeClr val="tx1"/>
                </a:solidFill>
              </a:rPr>
              <a:t>Results and Discussions</a:t>
            </a:r>
            <a:endParaRPr lang="en-US" sz="2800" dirty="0"/>
          </a:p>
          <a:p>
            <a:pPr marL="342900" indent="-342900">
              <a:spcAft>
                <a:spcPts val="400"/>
              </a:spcAft>
              <a:buSzPct val="100000"/>
              <a:buChar char="•"/>
            </a:pPr>
            <a:r>
              <a:rPr lang="en-US" sz="2800" dirty="0">
                <a:solidFill>
                  <a:schemeClr val="tx1"/>
                </a:solidFill>
              </a:rPr>
              <a:t>References</a:t>
            </a:r>
            <a:endParaRPr lang="en-US" sz="2800" dirty="0"/>
          </a:p>
          <a:p>
            <a:pPr marL="342900" indent="-342900">
              <a:spcAft>
                <a:spcPts val="400"/>
              </a:spcAft>
              <a:buSzPct val="100000"/>
              <a:buChar char="•"/>
            </a:pPr>
            <a:r>
              <a:rPr lang="en-US" sz="2800" dirty="0">
                <a:solidFill>
                  <a:schemeClr val="tx1"/>
                </a:solidFill>
              </a:rPr>
              <a:t>Conclusion</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Introduction</a:t>
            </a:r>
            <a:endParaRPr lang="en-US" sz="3800" dirty="0"/>
          </a:p>
        </p:txBody>
      </p:sp>
      <p:sp>
        <p:nvSpPr>
          <p:cNvPr id="3" name="Text 1"/>
          <p:cNvSpPr txBox="1"/>
          <p:nvPr/>
        </p:nvSpPr>
        <p:spPr>
          <a:xfrm>
            <a:off x="822960" y="1554480"/>
            <a:ext cx="10607040" cy="4480560"/>
          </a:xfrm>
          <a:prstGeom prst="rect">
            <a:avLst/>
          </a:prstGeom>
          <a:noFill/>
          <a:ln/>
        </p:spPr>
        <p:txBody>
          <a:bodyPr wrap="square" lIns="0" tIns="0" rIns="0" bIns="0" rtlCol="0" anchor="t"/>
          <a:lstStyle/>
          <a:p>
            <a:pPr algn="just" marL="342900" indent="-342900">
              <a:lnSpc>
                <a:spcPct val="105000"/>
              </a:lnSpc>
              <a:spcAft>
                <a:spcPts val="1200"/>
              </a:spcAft>
              <a:buSzPct val="100000"/>
              <a:buChar char="•"/>
            </a:pPr>
            <a:r>
              <a:rPr lang="en-US" sz="2200" dirty="0">
                <a:solidFill>
                  <a:schemeClr val="tx1"/>
                </a:solidFill>
              </a:rPr>
              <a:t>Windows lets any program register a keyboard hook (SetWindowsHookEx) to observe keystrokes. Hotkeys, game overlays, accessibility tools and chat applications rely on it.</a:t>
            </a:r>
            <a:endParaRPr lang="en-US" sz="2200" dirty="0"/>
          </a:p>
          <a:p>
            <a:pPr algn="just" marL="342900" indent="-342900">
              <a:lnSpc>
                <a:spcPct val="105000"/>
              </a:lnSpc>
              <a:spcAft>
                <a:spcPts val="1200"/>
              </a:spcAft>
              <a:buSzPct val="100000"/>
              <a:buChar char="•"/>
            </a:pPr>
            <a:r>
              <a:rPr lang="en-US" sz="2200" dirty="0">
                <a:solidFill>
                  <a:schemeClr val="tx1"/>
                </a:solidFill>
              </a:rPr>
              <a:t>Keyloggers abuse the same mechanism. MITRE ATT&amp;CK catalogues it as T1056.001 (Input Capture: Keylogging), used to steal passwords and private messages.</a:t>
            </a:r>
            <a:endParaRPr lang="en-US" sz="2200" dirty="0"/>
          </a:p>
          <a:p>
            <a:pPr algn="just" marL="342900" indent="-342900">
              <a:lnSpc>
                <a:spcPct val="105000"/>
              </a:lnSpc>
              <a:spcAft>
                <a:spcPts val="1200"/>
              </a:spcAft>
              <a:buSzPct val="100000"/>
              <a:buChar char="•"/>
            </a:pPr>
            <a:r>
              <a:rPr lang="en-US" sz="2200" dirty="0">
                <a:solidFill>
                  <a:schemeClr val="tx1"/>
                </a:solidFill>
              </a:rPr>
              <a:t>This project is a Windows user-mode monitoring tool that identifies processes capable of installing keyboard hooks and evaluates their risk over time.</a:t>
            </a:r>
            <a:endParaRPr lang="en-US" sz="2200" dirty="0"/>
          </a:p>
          <a:p>
            <a:pPr algn="just" marL="342900" indent="-342900">
              <a:lnSpc>
                <a:spcPct val="105000"/>
              </a:lnSpc>
              <a:spcAft>
                <a:spcPts val="1200"/>
              </a:spcAft>
              <a:buSzPct val="100000"/>
              <a:buChar char="•"/>
            </a:pPr>
            <a:r>
              <a:rPr lang="en-US" sz="2200" dirty="0">
                <a:solidFill>
                  <a:schemeClr val="tx1"/>
                </a:solidFill>
              </a:rPr>
              <a:t>It does not intercept keystrokes, inject code or run at kernel level. It follows capability detection, behavior observation and risk persistence, the approach used by modern EDR telemetry agents.</a:t>
            </a:r>
            <a:endParaRPr lang="en-US" sz="22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Problem Definition</a:t>
            </a:r>
            <a:endParaRPr lang="en-US" sz="3800" dirty="0"/>
          </a:p>
        </p:txBody>
      </p:sp>
      <p:sp>
        <p:nvSpPr>
          <p:cNvPr id="3" name="Text 1"/>
          <p:cNvSpPr txBox="1"/>
          <p:nvPr/>
        </p:nvSpPr>
        <p:spPr>
          <a:xfrm>
            <a:off x="822960" y="1554480"/>
            <a:ext cx="10607040" cy="4480560"/>
          </a:xfrm>
          <a:prstGeom prst="rect">
            <a:avLst/>
          </a:prstGeom>
          <a:noFill/>
          <a:ln/>
        </p:spPr>
        <p:txBody>
          <a:bodyPr wrap="square" lIns="0" tIns="0" rIns="0" bIns="0" rtlCol="0" anchor="t"/>
          <a:lstStyle/>
          <a:p>
            <a:pPr algn="just" marL="342900" indent="-342900">
              <a:lnSpc>
                <a:spcPct val="105000"/>
              </a:lnSpc>
              <a:spcAft>
                <a:spcPts val="1200"/>
              </a:spcAft>
              <a:buSzPct val="100000"/>
              <a:buChar char="•"/>
            </a:pPr>
            <a:r>
              <a:rPr lang="en-US" sz="2400" dirty="0">
                <a:solidFill>
                  <a:schemeClr val="tx1"/>
                </a:solidFill>
              </a:rPr>
              <a:t>Many legitimate applications (Discord, browsers, game overlays, accessibility tools) use keyboard hooks, so hook capability alone does not indicate malicious intent.</a:t>
            </a:r>
            <a:endParaRPr lang="en-US" sz="2400" dirty="0"/>
          </a:p>
          <a:p>
            <a:pPr algn="just" marL="342900" indent="-342900">
              <a:lnSpc>
                <a:spcPct val="105000"/>
              </a:lnSpc>
              <a:spcAft>
                <a:spcPts val="1200"/>
              </a:spcAft>
              <a:buSzPct val="100000"/>
              <a:buChar char="•"/>
            </a:pPr>
            <a:r>
              <a:rPr lang="en-US" sz="2400" dirty="0">
                <a:solidFill>
                  <a:schemeClr val="tx1"/>
                </a:solidFill>
              </a:rPr>
              <a:t>Judging a process from a single observation produces noisy alerts: a brief benign event looks the same as sustained suspicious behavior.</a:t>
            </a:r>
            <a:endParaRPr lang="en-US" sz="2400" dirty="0"/>
          </a:p>
          <a:p>
            <a:pPr algn="just" marL="342900" indent="-342900">
              <a:lnSpc>
                <a:spcPct val="105000"/>
              </a:lnSpc>
              <a:spcAft>
                <a:spcPts val="1200"/>
              </a:spcAft>
              <a:buSzPct val="100000"/>
              <a:buChar char="•"/>
            </a:pPr>
            <a:r>
              <a:rPr lang="en-US" sz="2400" dirty="0">
                <a:solidFill>
                  <a:schemeClr val="tx1"/>
                </a:solidFill>
              </a:rPr>
              <a:t>Hash and signature matching cannot recognize unseen or repacked keyloggers, and a bare malware probability from a black-box model cannot be audited or defended.</a:t>
            </a:r>
            <a:endParaRPr lang="en-US" sz="2400" dirty="0"/>
          </a:p>
          <a:p>
            <a:pPr algn="just" marL="342900" indent="-342900">
              <a:lnSpc>
                <a:spcPct val="105000"/>
              </a:lnSpc>
              <a:spcAft>
                <a:spcPts val="1200"/>
              </a:spcAft>
              <a:buSzPct val="100000"/>
              <a:buChar char="•"/>
            </a:pPr>
            <a:r>
              <a:rPr lang="en-US" sz="2400" dirty="0">
                <a:solidFill>
                  <a:schemeClr val="tx1"/>
                </a:solidFill>
              </a:rPr>
              <a:t>A behavioral approach is needed that flags the dangerous few, escalates only when suspicious behavior persists, and can explain every score.</a:t>
            </a:r>
            <a:endParaRPr lang="en-US" sz="24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Literature Survey (1/5)</a:t>
            </a:r>
            <a:endParaRPr lang="en-US" sz="3800" dirty="0"/>
          </a:p>
        </p:txBody>
      </p:sp>
      <p:graphicFrame>
        <p:nvGraphicFramePr>
          <p:cNvPr id="6" name="Literature table"/>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914400"/>
                <a:gridCol w="3566160"/>
                <a:gridCol w="4023360"/>
                <a:gridCol w="2926080"/>
              </a:tblGrid>
              <a:tr h="548640">
                <a:tc>
                  <a:txBody>
                    <a:bodyPr/>
                    <a:lstStyle/>
                    <a:p>
                      <a:pPr indent="0" marL="0">
                        <a:buNone/>
                      </a:pPr>
                      <a:r>
                        <a:rPr lang="en-US" sz="1800" b="1" dirty="0">
                          <a:solidFill>
                            <a:schemeClr val="tx1"/>
                          </a:solidFill>
                        </a:rPr>
                        <a:t>SL No.</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RESEARCH PAPER</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KEY FINDINGS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LIMITATIONS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1</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Bait Your Hook: A Novel Detection Technique for Keyloggers [2010]</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Injects bait keystrokes and checks whether a process's I/O activity correlates with them.</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Needs active probing of the system</a:t>
                      </a:r>
                      <a:endParaRPr lang="en-US" sz="1800" dirty="0"/>
                    </a:p>
                    <a:p>
                      <a:pPr marL="342900" indent="-342900">
                        <a:spcAft>
                          <a:spcPts val="400"/>
                        </a:spcAft>
                        <a:buSzPct val="100000"/>
                        <a:buChar char="•"/>
                      </a:pPr>
                      <a:r>
                        <a:rPr lang="en-US" sz="1800" dirty="0">
                          <a:solidFill>
                            <a:schemeClr val="tx1"/>
                          </a:solidFill>
                        </a:rPr>
                        <a:t>No trust or history context</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2</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KLIMAX: Profiling Memory Write Patterns to Detect Keystroke-Harvesting Malware [2011]</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Profiles how processes write keystroke data to memory to spot keyloggers.</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Needs runtime memory monitoring</a:t>
                      </a:r>
                      <a:endParaRPr lang="en-US" sz="1800" dirty="0"/>
                    </a:p>
                    <a:p>
                      <a:pPr marL="342900" indent="-342900">
                        <a:spcAft>
                          <a:spcPts val="400"/>
                        </a:spcAft>
                        <a:buSzPct val="100000"/>
                        <a:buChar char="•"/>
                      </a:pPr>
                      <a:r>
                        <a:rPr lang="en-US" sz="1800" dirty="0">
                          <a:solidFill>
                            <a:schemeClr val="tx1"/>
                          </a:solidFill>
                        </a:rPr>
                        <a:t>Dynamic evidence only</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Literature Survey (2/5)</a:t>
            </a:r>
            <a:endParaRPr lang="en-US" sz="3800" dirty="0"/>
          </a:p>
        </p:txBody>
      </p:sp>
      <p:graphicFrame>
        <p:nvGraphicFramePr>
          <p:cNvPr id="7" name="Literature table"/>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914400"/>
                <a:gridCol w="3566160"/>
                <a:gridCol w="4023360"/>
                <a:gridCol w="2926080"/>
              </a:tblGrid>
              <a:tr h="548640">
                <a:tc>
                  <a:txBody>
                    <a:bodyPr/>
                    <a:lstStyle/>
                    <a:p>
                      <a:pPr indent="0" marL="0">
                        <a:buNone/>
                      </a:pPr>
                      <a:r>
                        <a:rPr lang="en-US" sz="1800" b="1" dirty="0">
                          <a:solidFill>
                            <a:schemeClr val="tx1"/>
                          </a:solidFill>
                        </a:rPr>
                        <a:t>SL No.</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RESEARCH PAPER</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KEY FINDINGS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LIMITATIONS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3</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Effective and Efficient Malware Detection at the End Host [2009]</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Matches system-call behavior graphs of known malware against programs at run time.</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Needs prior samples of each family</a:t>
                      </a:r>
                      <a:endParaRPr lang="en-US" sz="1800" dirty="0"/>
                    </a:p>
                    <a:p>
                      <a:pPr marL="342900" indent="-342900">
                        <a:spcAft>
                          <a:spcPts val="400"/>
                        </a:spcAft>
                        <a:buSzPct val="100000"/>
                        <a:buChar char="•"/>
                      </a:pPr>
                      <a:r>
                        <a:rPr lang="en-US" sz="1800" dirty="0">
                          <a:solidFill>
                            <a:schemeClr val="tx1"/>
                          </a:solidFill>
                        </a:rPr>
                        <a:t>Novel behavior can slip through</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4</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 Survey on Automated Dynamic Malware-Analysis Techniques and Tools [2012]</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Reviews dynamic analysis: API hooking, function-call monitoring and information-flow tracking.</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Analysis-aware malware can evade</a:t>
                      </a:r>
                      <a:endParaRPr lang="en-US" sz="1800" dirty="0"/>
                    </a:p>
                    <a:p>
                      <a:pPr marL="342900" indent="-342900">
                        <a:spcAft>
                          <a:spcPts val="400"/>
                        </a:spcAft>
                        <a:buSzPct val="100000"/>
                        <a:buChar char="•"/>
                      </a:pPr>
                      <a:r>
                        <a:rPr lang="en-US" sz="1800" dirty="0">
                          <a:solidFill>
                            <a:schemeClr val="tx1"/>
                          </a:solidFill>
                        </a:rPr>
                        <a:t>Heavy for always-on monitoring</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Literature Survey (3/5)</a:t>
            </a:r>
            <a:endParaRPr lang="en-US" sz="3800" dirty="0"/>
          </a:p>
        </p:txBody>
      </p:sp>
      <p:graphicFrame>
        <p:nvGraphicFramePr>
          <p:cNvPr id="8" name="Literature table"/>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914400"/>
                <a:gridCol w="3566160"/>
                <a:gridCol w="4023360"/>
                <a:gridCol w="2926080"/>
              </a:tblGrid>
              <a:tr h="548640">
                <a:tc>
                  <a:txBody>
                    <a:bodyPr/>
                    <a:lstStyle/>
                    <a:p>
                      <a:pPr indent="0" marL="0">
                        <a:buNone/>
                      </a:pPr>
                      <a:r>
                        <a:rPr lang="en-US" sz="1800" b="1" dirty="0">
                          <a:solidFill>
                            <a:schemeClr val="tx1"/>
                          </a:solidFill>
                        </a:rPr>
                        <a:t>SL No.</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RESEARCH PAPER</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KEY FINDINGS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LIMITATIONS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5</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Limits of Static Analysis for Malware Detection [2007]</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Shows that code obfuscation can defeat static analysis of binaries.</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Static signals alone are not conclusive</a:t>
                      </a:r>
                      <a:endParaRPr lang="en-US" sz="1800" dirty="0"/>
                    </a:p>
                    <a:p>
                      <a:pPr marL="342900" indent="-342900">
                        <a:spcAft>
                          <a:spcPts val="400"/>
                        </a:spcAft>
                        <a:buSzPct val="100000"/>
                        <a:buChar char="•"/>
                      </a:pPr>
                      <a:r>
                        <a:rPr lang="en-US" sz="1800" dirty="0">
                          <a:solidFill>
                            <a:schemeClr val="tx1"/>
                          </a:solidFill>
                        </a:rPr>
                        <a:t>Motivates combining several signals</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6</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PE-Miner: Mining Structural Information to Detect Malicious Executables in Realtime [2009]</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Classifies executables from structural PE features such as headers, imports and resources.</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General malware verdict</a:t>
                      </a:r>
                      <a:endParaRPr lang="en-US" sz="1800" dirty="0"/>
                    </a:p>
                    <a:p>
                      <a:pPr marL="342900" indent="-342900">
                        <a:spcAft>
                          <a:spcPts val="400"/>
                        </a:spcAft>
                        <a:buSzPct val="100000"/>
                        <a:buChar char="•"/>
                      </a:pPr>
                      <a:r>
                        <a:rPr lang="en-US" sz="1800" dirty="0">
                          <a:solidFill>
                            <a:schemeClr val="tx1"/>
                          </a:solidFill>
                        </a:rPr>
                        <a:t>Not keylogger-specific</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Literature Survey (4/5)</a:t>
            </a:r>
            <a:endParaRPr lang="en-US" sz="3800" dirty="0"/>
          </a:p>
        </p:txBody>
      </p:sp>
      <p:graphicFrame>
        <p:nvGraphicFramePr>
          <p:cNvPr id="9" name="Literature table"/>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914400"/>
                <a:gridCol w="3566160"/>
                <a:gridCol w="4023360"/>
                <a:gridCol w="2926080"/>
              </a:tblGrid>
              <a:tr h="548640">
                <a:tc>
                  <a:txBody>
                    <a:bodyPr/>
                    <a:lstStyle/>
                    <a:p>
                      <a:pPr indent="0" marL="0">
                        <a:buNone/>
                      </a:pPr>
                      <a:r>
                        <a:rPr lang="en-US" sz="1800" b="1" dirty="0">
                          <a:solidFill>
                            <a:schemeClr val="tx1"/>
                          </a:solidFill>
                        </a:rPr>
                        <a:t>SL No.</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RESEARCH PAPER</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KEY FINDINGS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LIMITATIONS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7</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Deep Neural Network Based Malware Detection Using Two-Dimensional Binary Program Features [2015]</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Feeds byte-entropy, string, import and metadata features to a deep neural network.</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Black-box model, hard to explain</a:t>
                      </a:r>
                      <a:endParaRPr lang="en-US" sz="1800" dirty="0"/>
                    </a:p>
                    <a:p>
                      <a:pPr marL="342900" indent="-342900">
                        <a:spcAft>
                          <a:spcPts val="400"/>
                        </a:spcAft>
                        <a:buSzPct val="100000"/>
                        <a:buChar char="•"/>
                      </a:pPr>
                      <a:r>
                        <a:rPr lang="en-US" sz="1800" dirty="0">
                          <a:solidFill>
                            <a:schemeClr val="tx1"/>
                          </a:solidFill>
                        </a:rPr>
                        <a:t>Not keylogger-specific</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8</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Malware Detection by Eating a Whole EXE [2018]</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Trains a convolutional network (MalConv) directly on raw executable bytes.</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Opaque decisions</a:t>
                      </a:r>
                      <a:endParaRPr lang="en-US" sz="1800" dirty="0"/>
                    </a:p>
                    <a:p>
                      <a:pPr marL="342900" indent="-342900">
                        <a:spcAft>
                          <a:spcPts val="400"/>
                        </a:spcAft>
                        <a:buSzPct val="100000"/>
                        <a:buChar char="•"/>
                      </a:pPr>
                      <a:r>
                        <a:rPr lang="en-US" sz="1800" dirty="0">
                          <a:solidFill>
                            <a:schemeClr val="tx1"/>
                          </a:solidFill>
                        </a:rPr>
                        <a:t>Needs large training data</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Literature Survey (5/5)</a:t>
            </a:r>
            <a:endParaRPr lang="en-US" sz="3800" dirty="0"/>
          </a:p>
        </p:txBody>
      </p:sp>
      <p:graphicFrame>
        <p:nvGraphicFramePr>
          <p:cNvPr id="10" name="Literature table"/>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914400"/>
                <a:gridCol w="3566160"/>
                <a:gridCol w="4023360"/>
                <a:gridCol w="2926080"/>
              </a:tblGrid>
              <a:tr h="548640">
                <a:tc>
                  <a:txBody>
                    <a:bodyPr/>
                    <a:lstStyle/>
                    <a:p>
                      <a:pPr indent="0" marL="0">
                        <a:buNone/>
                      </a:pPr>
                      <a:r>
                        <a:rPr lang="en-US" sz="1800" b="1" dirty="0">
                          <a:solidFill>
                            <a:schemeClr val="tx1"/>
                          </a:solidFill>
                        </a:rPr>
                        <a:t>SL No.</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RESEARCH PAPER</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KEY FINDINGS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LIMITATIONS</a:t>
                      </a:r>
                      <a:endParaRPr lang="en-US" sz="1800" dirty="0"/>
                    </a:p>
                  </a:txBody>
                  <a:tcPr marL="91440" marR="91440" marT="73152" marB="73152"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9</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EMBER: An Open Dataset for Training Static PE Malware Machine Learning Models [2018]</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Releases about 1.1 million PE files with features and a gradient-boosted baseline.</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One file, one score</a:t>
                      </a:r>
                      <a:endParaRPr lang="en-US" sz="1800" dirty="0"/>
                    </a:p>
                    <a:p>
                      <a:pPr marL="342900" indent="-342900">
                        <a:spcAft>
                          <a:spcPts val="400"/>
                        </a:spcAft>
                        <a:buSzPct val="100000"/>
                        <a:buChar char="•"/>
                      </a:pPr>
                      <a:r>
                        <a:rPr lang="en-US" sz="1800" dirty="0">
                          <a:solidFill>
                            <a:schemeClr val="tx1"/>
                          </a:solidFill>
                        </a:rPr>
                        <a:t>No behavior over time</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48840">
                <a:tc>
                  <a:txBody>
                    <a:bodyPr/>
                    <a:lstStyle/>
                    <a:p>
                      <a:pPr indent="0" marL="0">
                        <a:buNone/>
                      </a:pPr>
                      <a:r>
                        <a:rPr lang="en-US" sz="1800" dirty="0">
                          <a:solidFill>
                            <a:schemeClr val="tx1"/>
                          </a:solidFill>
                        </a:rPr>
                        <a:t>10</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 Learning Model to Detect Maliciousness of Portable Executable Using Integrated Feature Set (ClaMP) [2019]</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Combines raw and derived PE-header features; 5,210 labeled executables released publicly.</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342900" indent="-342900">
                        <a:spcAft>
                          <a:spcPts val="400"/>
                        </a:spcAft>
                        <a:buSzPct val="100000"/>
                        <a:buChar char="•"/>
                      </a:pPr>
                      <a:r>
                        <a:rPr lang="en-US" sz="1800" dirty="0">
                          <a:solidFill>
                            <a:schemeClr val="tx1"/>
                          </a:solidFill>
                        </a:rPr>
                        <a:t>Header-based malware verdict</a:t>
                      </a:r>
                      <a:endParaRPr lang="en-US" sz="1800" dirty="0"/>
                    </a:p>
                    <a:p>
                      <a:pPr marL="342900" indent="-342900">
                        <a:spcAft>
                          <a:spcPts val="400"/>
                        </a:spcAft>
                        <a:buSzPct val="100000"/>
                        <a:buChar char="•"/>
                      </a:pPr>
                      <a:r>
                        <a:rPr lang="en-US" sz="1800" dirty="0">
                          <a:solidFill>
                            <a:schemeClr val="tx1"/>
                          </a:solidFill>
                        </a:rPr>
                        <a:t>No keylogger or temporal context</a:t>
                      </a:r>
                      <a:endParaRPr lang="en-US" sz="1800" dirty="0"/>
                    </a:p>
                  </a:txBody>
                  <a:tcPr marL="91440" marR="91440" marT="73152" marB="73152"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Inferences</a:t>
            </a:r>
            <a:endParaRPr lang="en-US" sz="3800" dirty="0"/>
          </a:p>
        </p:txBody>
      </p:sp>
      <p:sp>
        <p:nvSpPr>
          <p:cNvPr id="3" name="Text 1"/>
          <p:cNvSpPr txBox="1"/>
          <p:nvPr/>
        </p:nvSpPr>
        <p:spPr>
          <a:xfrm>
            <a:off x="822960" y="1554480"/>
            <a:ext cx="10607040" cy="4480560"/>
          </a:xfrm>
          <a:prstGeom prst="rect">
            <a:avLst/>
          </a:prstGeom>
          <a:noFill/>
          <a:ln/>
        </p:spPr>
        <p:txBody>
          <a:bodyPr wrap="square" lIns="0" tIns="0" rIns="0" bIns="0" rtlCol="0" anchor="t"/>
          <a:lstStyle/>
          <a:p>
            <a:pPr algn="just" marL="342900" indent="-342900">
              <a:lnSpc>
                <a:spcPct val="105000"/>
              </a:lnSpc>
              <a:spcAft>
                <a:spcPts val="1200"/>
              </a:spcAft>
              <a:buSzPct val="100000"/>
              <a:buChar char="•"/>
            </a:pPr>
            <a:r>
              <a:rPr lang="en-US" sz="2400" dirty="0">
                <a:solidFill>
                  <a:schemeClr val="tx1"/>
                </a:solidFill>
              </a:rPr>
              <a:t>Dynamic keylogger detectors work but are intrusive and heavy for always-on use, so a passive, read-only, user-mode approach is preferred.</a:t>
            </a:r>
            <a:endParaRPr lang="en-US" sz="2400" dirty="0"/>
          </a:p>
          <a:p>
            <a:pPr algn="just" marL="342900" indent="-342900">
              <a:lnSpc>
                <a:spcPct val="105000"/>
              </a:lnSpc>
              <a:spcAft>
                <a:spcPts val="1200"/>
              </a:spcAft>
              <a:buSzPct val="100000"/>
              <a:buChar char="•"/>
            </a:pPr>
            <a:r>
              <a:rPr lang="en-US" sz="2400" dirty="0">
                <a:solidFill>
                  <a:schemeClr val="tx1"/>
                </a:solidFill>
              </a:rPr>
              <a:t>Static ML on PE features is accurate for malware in general but is not keylogger-specific; an import-table fingerprint mapped to MITRE ATT&amp;CK fills that gap.</a:t>
            </a:r>
            <a:endParaRPr lang="en-US" sz="2400" dirty="0"/>
          </a:p>
          <a:p>
            <a:pPr algn="just" marL="342900" indent="-342900">
              <a:lnSpc>
                <a:spcPct val="105000"/>
              </a:lnSpc>
              <a:spcAft>
                <a:spcPts val="1200"/>
              </a:spcAft>
              <a:buSzPct val="100000"/>
              <a:buChar char="•"/>
            </a:pPr>
            <a:r>
              <a:rPr lang="en-US" sz="2400" dirty="0">
                <a:solidFill>
                  <a:schemeClr val="tx1"/>
                </a:solidFill>
              </a:rPr>
              <a:t>Single-snapshot verdicts and black-box scores are hard to trust; scoring over time with an explainable rule engine addresses this.</a:t>
            </a:r>
            <a:endParaRPr lang="en-US" sz="2400" dirty="0"/>
          </a:p>
          <a:p>
            <a:pPr algn="just" marL="342900" indent="-342900">
              <a:lnSpc>
                <a:spcPct val="105000"/>
              </a:lnSpc>
              <a:spcAft>
                <a:spcPts val="1200"/>
              </a:spcAft>
              <a:buSzPct val="100000"/>
              <a:buChar char="•"/>
            </a:pPr>
            <a:r>
              <a:rPr lang="en-US" sz="2400" dirty="0">
                <a:solidFill>
                  <a:schemeClr val="tx1"/>
                </a:solidFill>
              </a:rPr>
              <a:t>Hook capability is common in benign software, so ML evidence should only amplify a rule-based trigger, supported by an allowlist and risk decay.</a:t>
            </a:r>
            <a:endParaRPr lang="en-US" sz="24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Proposed System (1/2)</a:t>
            </a:r>
            <a:endParaRPr lang="en-US" sz="3800" dirty="0"/>
          </a:p>
        </p:txBody>
      </p:sp>
      <p:sp>
        <p:nvSpPr>
          <p:cNvPr id="3" name="Text 1"/>
          <p:cNvSpPr txBox="1"/>
          <p:nvPr/>
        </p:nvSpPr>
        <p:spPr>
          <a:xfrm>
            <a:off x="822960" y="1417320"/>
            <a:ext cx="10607040" cy="4480560"/>
          </a:xfrm>
          <a:prstGeom prst="rect">
            <a:avLst/>
          </a:prstGeom>
          <a:noFill/>
          <a:ln/>
        </p:spPr>
        <p:txBody>
          <a:bodyPr wrap="square" lIns="0" tIns="0" rIns="0" bIns="0" rtlCol="0" anchor="t"/>
          <a:lstStyle/>
          <a:p>
            <a:pPr algn="just" marL="342900" indent="-342900">
              <a:lnSpc>
                <a:spcPct val="105000"/>
              </a:lnSpc>
              <a:spcAft>
                <a:spcPts val="1200"/>
              </a:spcAft>
              <a:buSzPct val="100000"/>
              <a:buChar char="•"/>
            </a:pPr>
            <a:r>
              <a:rPr lang="en-US" sz="2200" dirty="0">
                <a:solidFill>
                  <a:schemeClr val="tx1"/>
                </a:solidFill>
              </a:rPr>
              <a:t>The proposed system scores every hook-capable process with three independent, complementary layers.</a:t>
            </a:r>
            <a:endParaRPr lang="en-US" sz="2200" dirty="0"/>
          </a:p>
          <a:p>
            <a:pPr algn="just" lvl="1" marL="685800" indent="-342900">
              <a:lnSpc>
                <a:spcPct val="105000"/>
              </a:lnSpc>
              <a:spcAft>
                <a:spcPts val="600"/>
              </a:spcAft>
              <a:buSzPct val="100000"/>
              <a:buChar char="•"/>
            </a:pPr>
            <a:r>
              <a:rPr lang="en-US" sz="2200" dirty="0">
                <a:solidFill>
                  <a:schemeClr val="tx1"/>
                </a:solidFill>
              </a:rPr>
              <a:t>Rule engine: DLL and signature inspection with temporal event weights, decay and an allowlist.</a:t>
            </a:r>
            <a:endParaRPr lang="en-US" sz="2200" dirty="0"/>
          </a:p>
          <a:p>
            <a:pPr algn="just" lvl="1" marL="685800" indent="-342900">
              <a:lnSpc>
                <a:spcPct val="105000"/>
              </a:lnSpc>
              <a:spcAft>
                <a:spcPts val="600"/>
              </a:spcAft>
              <a:buSzPct val="100000"/>
              <a:buChar char="•"/>
            </a:pPr>
            <a:r>
              <a:rPr lang="en-US" sz="2200" dirty="0">
                <a:solidFill>
                  <a:schemeClr val="tx1"/>
                </a:solidFill>
              </a:rPr>
              <a:t>Malware ML: a RandomForest classifier trained on 5,210 real labeled executables (ClaMP dataset, 67 PE-header features).</a:t>
            </a:r>
            <a:endParaRPr lang="en-US" sz="2200" dirty="0"/>
          </a:p>
          <a:p>
            <a:pPr algn="just" lvl="1" marL="685800" indent="-342900">
              <a:lnSpc>
                <a:spcPct val="105000"/>
              </a:lnSpc>
              <a:spcAft>
                <a:spcPts val="1200"/>
              </a:spcAft>
              <a:buSzPct val="100000"/>
              <a:buChar char="•"/>
            </a:pPr>
            <a:r>
              <a:rPr lang="en-US" sz="2200" dirty="0">
                <a:solidFill>
                  <a:schemeClr val="tx1"/>
                </a:solidFill>
              </a:rPr>
              <a:t>Keylogger API fingerprint: weighted static match of the import table against Windows APIs mapped to MITRE ATT&amp;CK.</a:t>
            </a:r>
            <a:endParaRPr lang="en-US" sz="2200" dirty="0"/>
          </a:p>
          <a:p>
            <a:pPr algn="just" marL="342900" indent="-342900">
              <a:lnSpc>
                <a:spcPct val="105000"/>
              </a:lnSpc>
              <a:spcAft>
                <a:spcPts val="1200"/>
              </a:spcAft>
              <a:buSzPct val="100000"/>
              <a:buChar char="•"/>
            </a:pPr>
            <a:r>
              <a:rPr lang="en-US" sz="2200" dirty="0">
                <a:solidFill>
                  <a:schemeClr val="tx1"/>
                </a:solidFill>
              </a:rPr>
              <a:t>No single layer can escalate risk alone: the ML and API scores only add a bonus to an event that already carries a rule-based weight.</a:t>
            </a:r>
            <a:endParaRPr lang="en-US" sz="22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Proposed System (2/2)</a:t>
            </a:r>
            <a:endParaRPr lang="en-US" sz="3800" dirty="0"/>
          </a:p>
        </p:txBody>
      </p:sp>
      <p:sp>
        <p:nvSpPr>
          <p:cNvPr id="3" name="Scoring heading"/>
          <p:cNvSpPr txBox="1"/>
          <p:nvPr/>
        </p:nvSpPr>
        <p:spPr>
          <a:xfrm>
            <a:off x="365760" y="1371600"/>
            <a:ext cx="5486400" cy="365760"/>
          </a:xfrm>
          <a:prstGeom prst="rect">
            <a:avLst/>
          </a:prstGeom>
          <a:noFill/>
          <a:ln/>
        </p:spPr>
        <p:txBody>
          <a:bodyPr wrap="square" lIns="0" tIns="0" rIns="0" bIns="0" rtlCol="0" anchor="t"/>
          <a:lstStyle/>
          <a:p>
            <a:pPr indent="0" marL="0">
              <a:buNone/>
            </a:pPr>
            <a:r>
              <a:rPr lang="en-US" sz="2200" b="1" dirty="0">
                <a:solidFill>
                  <a:schemeClr val="tx2"/>
                </a:solidFill>
              </a:rPr>
              <a:t>Risk scoring</a:t>
            </a:r>
            <a:endParaRPr lang="en-US" sz="2200" dirty="0"/>
          </a:p>
        </p:txBody>
      </p:sp>
      <p:sp>
        <p:nvSpPr>
          <p:cNvPr id="4" name="Formula"/>
          <p:cNvSpPr txBox="1"/>
          <p:nvPr/>
        </p:nvSpPr>
        <p:spPr>
          <a:xfrm>
            <a:off x="365760" y="1828800"/>
            <a:ext cx="5669280" cy="1737360"/>
          </a:xfrm>
          <a:prstGeom prst="rect">
            <a:avLst/>
          </a:prstGeom>
          <a:noFill/>
          <a:ln/>
        </p:spPr>
        <p:txBody>
          <a:bodyPr wrap="square" lIns="0" tIns="0" rIns="0" bIns="0" rtlCol="0" anchor="t"/>
          <a:lstStyle/>
          <a:p>
            <a:pPr indent="0" marL="0">
              <a:buNone/>
            </a:pPr>
            <a:r>
              <a:rPr lang="en-US" sz="1700" dirty="0">
                <a:solidFill>
                  <a:schemeClr val="tx1"/>
                </a:solidFill>
                <a:latin typeface="Courier New" pitchFamily="34" charset="0"/>
                <a:ea typeface="Courier New" pitchFamily="34" charset="-122"/>
                <a:cs typeface="Courier New" pitchFamily="34" charset="-120"/>
              </a:rPr>
              <a:t>weight = event_weight</a:t>
            </a:r>
            <a:endParaRPr lang="en-US" sz="1700" dirty="0"/>
          </a:p>
          <a:p>
            <a:pPr indent="0" marL="0">
              <a:buNone/>
            </a:pPr>
            <a:r>
              <a:rPr lang="en-US" sz="1700" dirty="0">
                <a:solidFill>
                  <a:schemeClr val="tx1"/>
                </a:solidFill>
                <a:latin typeface="Courier New" pitchFamily="34" charset="0"/>
                <a:ea typeface="Courier New" pitchFamily="34" charset="-122"/>
                <a:cs typeface="Courier New" pitchFamily="34" charset="-120"/>
              </a:rPr>
              <a:t>       + round(10 × ml_risk_score)</a:t>
            </a:r>
            <a:endParaRPr lang="en-US" sz="1700" dirty="0"/>
          </a:p>
          <a:p>
            <a:pPr indent="0" marL="0">
              <a:spcAft>
                <a:spcPts val="800"/>
              </a:spcAft>
              <a:buNone/>
            </a:pPr>
            <a:r>
              <a:rPr lang="en-US" sz="1700" dirty="0">
                <a:solidFill>
                  <a:schemeClr val="tx1"/>
                </a:solidFill>
                <a:latin typeface="Courier New" pitchFamily="34" charset="0"/>
                <a:ea typeface="Courier New" pitchFamily="34" charset="-122"/>
                <a:cs typeface="Courier New" pitchFamily="34" charset="-120"/>
              </a:rPr>
              <a:t>       + round(12 × keylogger_api_score)</a:t>
            </a:r>
            <a:endParaRPr lang="en-US" sz="1700" dirty="0"/>
          </a:p>
          <a:p>
            <a:pPr indent="0" marL="0">
              <a:buNone/>
            </a:pPr>
            <a:r>
              <a:rPr lang="en-US" sz="1700" dirty="0">
                <a:solidFill>
                  <a:schemeClr val="tx1"/>
                </a:solidFill>
                <a:latin typeface="Courier New" pitchFamily="34" charset="0"/>
                <a:ea typeface="Courier New" pitchFamily="34" charset="-122"/>
                <a:cs typeface="Courier New" pitchFamily="34" charset="-120"/>
              </a:rPr>
              <a:t>score  = min(150, score + weight)</a:t>
            </a:r>
            <a:endParaRPr lang="en-US" sz="1700" dirty="0"/>
          </a:p>
          <a:p>
            <a:pPr indent="0" marL="0">
              <a:buNone/>
            </a:pPr>
            <a:r>
              <a:rPr lang="en-US" sz="1700" dirty="0">
                <a:solidFill>
                  <a:schemeClr val="tx1"/>
                </a:solidFill>
                <a:latin typeface="Courier New" pitchFamily="34" charset="0"/>
                <a:ea typeface="Courier New" pitchFamily="34" charset="-122"/>
                <a:cs typeface="Courier New" pitchFamily="34" charset="-120"/>
              </a:rPr>
              <a:t>score  = score − 5 per cycle</a:t>
            </a:r>
            <a:endParaRPr lang="en-US" sz="1700" dirty="0"/>
          </a:p>
        </p:txBody>
      </p:sp>
      <p:sp>
        <p:nvSpPr>
          <p:cNvPr id="5" name="Safeguards"/>
          <p:cNvSpPr txBox="1"/>
          <p:nvPr/>
        </p:nvSpPr>
        <p:spPr>
          <a:xfrm>
            <a:off x="365760" y="3931920"/>
            <a:ext cx="5669280" cy="21031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chemeClr val="tx1"/>
                </a:solidFill>
              </a:rPr>
              <a:t>Bonuses apply only when the event's base weight is positive.</a:t>
            </a:r>
            <a:endParaRPr lang="en-US" sz="1900" dirty="0"/>
          </a:p>
          <a:p>
            <a:pPr marL="342900" indent="-342900">
              <a:spcAft>
                <a:spcPts val="600"/>
              </a:spcAft>
              <a:buSzPct val="100000"/>
              <a:buChar char="•"/>
            </a:pPr>
            <a:r>
              <a:rPr lang="en-US" sz="1900" dirty="0">
                <a:solidFill>
                  <a:schemeClr val="tx1"/>
                </a:solidFill>
              </a:rPr>
              <a:t>Hook events add nothing until a suspect has been detected.</a:t>
            </a:r>
            <a:endParaRPr lang="en-US" sz="1900" dirty="0"/>
          </a:p>
          <a:p>
            <a:pPr marL="342900" indent="-342900">
              <a:buSzPct val="100000"/>
              <a:buChar char="•"/>
            </a:pPr>
            <a:r>
              <a:rPr lang="en-US" sz="1900" dirty="0">
                <a:solidFill>
                  <a:schemeClr val="tx1"/>
                </a:solidFill>
              </a:rPr>
              <a:t>Allowlisted software always scores 0.</a:t>
            </a:r>
            <a:endParaRPr lang="en-US" sz="1900" dirty="0"/>
          </a:p>
        </p:txBody>
      </p:sp>
      <p:graphicFrame>
        <p:nvGraphicFramePr>
          <p:cNvPr id="13" name="Event weights table"/>
          <p:cNvGraphicFramePr>
            <a:graphicFrameLocks noGrp="1"/>
          </p:cNvGraphicFramePr>
          <p:nvPr>
            <p:extLst>
              <p:ext uri="{D42A27DB-BD31-4B8C-83A1-F6EECF244321}">
                <p14:modId xmlns:p14="http://schemas.microsoft.com/office/powerpoint/2010/main" val="1579011935"/>
              </p:ext>
            </p:extLst>
          </p:nvPr>
        </p:nvGraphicFramePr>
        <p:xfrm>
          <a:off x="6492240" y="1417320"/>
          <a:ext cx="5303520" cy="914400"/>
        </p:xfrm>
        <a:graphic>
          <a:graphicData uri="http://schemas.openxmlformats.org/drawingml/2006/table">
            <a:tbl>
              <a:tblPr/>
              <a:tblGrid>
                <a:gridCol w="3657600"/>
                <a:gridCol w="1645920"/>
              </a:tblGrid>
              <a:tr h="457200">
                <a:tc>
                  <a:txBody>
                    <a:bodyPr/>
                    <a:lstStyle/>
                    <a:p>
                      <a:pPr indent="0" marL="0">
                        <a:buNone/>
                      </a:pPr>
                      <a:r>
                        <a:rPr lang="en-US" sz="1800" b="1" dirty="0">
                          <a:solidFill>
                            <a:schemeClr val="tx1"/>
                          </a:solidFill>
                        </a:rPr>
                        <a:t>EVENT</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WEIGHT</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57200">
                <a:tc>
                  <a:txBody>
                    <a:bodyPr/>
                    <a:lstStyle/>
                    <a:p>
                      <a:pPr indent="0" marL="0">
                        <a:buNone/>
                      </a:pPr>
                      <a:r>
                        <a:rPr lang="en-US" sz="1800" dirty="0">
                          <a:solidFill>
                            <a:schemeClr val="tx1"/>
                          </a:solidFill>
                        </a:rPr>
                        <a:t>SUSPECT_DETECTED</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+15</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57200">
                <a:tc>
                  <a:txBody>
                    <a:bodyPr/>
                    <a:lstStyle/>
                    <a:p>
                      <a:pPr indent="0" marL="0">
                        <a:buNone/>
                      </a:pPr>
                      <a:r>
                        <a:rPr lang="en-US" sz="1800" dirty="0">
                          <a:solidFill>
                            <a:schemeClr val="tx1"/>
                          </a:solidFill>
                        </a:rPr>
                        <a:t>HOOK_APPEARED</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+10</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57200">
                <a:tc>
                  <a:txBody>
                    <a:bodyPr/>
                    <a:lstStyle/>
                    <a:p>
                      <a:pPr indent="0" marL="0">
                        <a:buNone/>
                      </a:pPr>
                      <a:r>
                        <a:rPr lang="en-US" sz="1800" dirty="0">
                          <a:solidFill>
                            <a:schemeClr val="tx1"/>
                          </a:solidFill>
                        </a:rPr>
                        <a:t>NEW_HOOK_MODULE</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+35</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57200">
                <a:tc>
                  <a:txBody>
                    <a:bodyPr/>
                    <a:lstStyle/>
                    <a:p>
                      <a:pPr indent="0" marL="0">
                        <a:buNone/>
                      </a:pPr>
                      <a:r>
                        <a:rPr lang="en-US" sz="1800" dirty="0">
                          <a:solidFill>
                            <a:schemeClr val="tx1"/>
                          </a:solidFill>
                        </a:rPr>
                        <a:t>HOOK_REMOVED</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−10</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25" name="Risk levels table"/>
          <p:cNvGraphicFramePr>
            <a:graphicFrameLocks noGrp="1"/>
          </p:cNvGraphicFramePr>
          <p:nvPr>
            <p:extLst>
              <p:ext uri="{D42A27DB-BD31-4B8C-83A1-F6EECF244321}">
                <p14:modId xmlns:p14="http://schemas.microsoft.com/office/powerpoint/2010/main" val="1579011935"/>
              </p:ext>
            </p:extLst>
          </p:nvPr>
        </p:nvGraphicFramePr>
        <p:xfrm>
          <a:off x="6492240" y="4069080"/>
          <a:ext cx="5303520" cy="914400"/>
        </p:xfrm>
        <a:graphic>
          <a:graphicData uri="http://schemas.openxmlformats.org/drawingml/2006/table">
            <a:tbl>
              <a:tblPr/>
              <a:tblGrid>
                <a:gridCol w="2743200"/>
                <a:gridCol w="2560320"/>
              </a:tblGrid>
              <a:tr h="457200">
                <a:tc>
                  <a:txBody>
                    <a:bodyPr/>
                    <a:lstStyle/>
                    <a:p>
                      <a:pPr indent="0" marL="0">
                        <a:buNone/>
                      </a:pPr>
                      <a:r>
                        <a:rPr lang="en-US" sz="1800" b="1" dirty="0">
                          <a:solidFill>
                            <a:schemeClr val="tx1"/>
                          </a:solidFill>
                        </a:rPr>
                        <a:t>RISK LEVEL</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SCORE</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57200">
                <a:tc>
                  <a:txBody>
                    <a:bodyPr/>
                    <a:lstStyle/>
                    <a:p>
                      <a:pPr indent="0" marL="0">
                        <a:buNone/>
                      </a:pPr>
                      <a:r>
                        <a:rPr lang="en-US" sz="1800" dirty="0">
                          <a:solidFill>
                            <a:schemeClr val="tx1"/>
                          </a:solidFill>
                        </a:rPr>
                        <a:t>LOW</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below 30</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57200">
                <a:tc>
                  <a:txBody>
                    <a:bodyPr/>
                    <a:lstStyle/>
                    <a:p>
                      <a:pPr indent="0" marL="0">
                        <a:buNone/>
                      </a:pPr>
                      <a:r>
                        <a:rPr lang="en-US" sz="1800" dirty="0">
                          <a:solidFill>
                            <a:schemeClr val="tx1"/>
                          </a:solidFill>
                        </a:rPr>
                        <a:t>MEDIUM</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30 and above</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457200">
                <a:tc>
                  <a:txBody>
                    <a:bodyPr/>
                    <a:lstStyle/>
                    <a:p>
                      <a:pPr indent="0" marL="0">
                        <a:buNone/>
                      </a:pPr>
                      <a:r>
                        <a:rPr lang="en-US" sz="1800" dirty="0">
                          <a:solidFill>
                            <a:schemeClr val="tx1"/>
                          </a:solidFill>
                        </a:rPr>
                        <a:t>HIGH</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60 and above</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Architecture (1/2)</a:t>
            </a:r>
            <a:endParaRPr lang="en-US" sz="3800" dirty="0"/>
          </a:p>
        </p:txBody>
      </p:sp>
      <p:sp>
        <p:nvSpPr>
          <p:cNvPr id="3" name="Box main_controller.py: scan every 10 s, analyze every 3 cycles (single warm process)"/>
          <p:cNvSpPr/>
          <p:nvPr/>
        </p:nvSpPr>
        <p:spPr>
          <a:xfrm>
            <a:off x="612648" y="1371600"/>
            <a:ext cx="10972800" cy="640080"/>
          </a:xfrm>
          <a:prstGeom prst="rect">
            <a:avLst/>
          </a:prstGeom>
          <a:solidFill>
            <a:schemeClr val="bg2"/>
          </a:solidFill>
          <a:ln w="15875">
            <a:solidFill>
              <a:schemeClr val="tx1"/>
            </a:solidFill>
            <a:prstDash val="solid"/>
          </a:ln>
        </p:spPr>
      </p:sp>
      <p:sp>
        <p:nvSpPr>
          <p:cNvPr id="4" name="Text 2"/>
          <p:cNvSpPr txBox="1"/>
          <p:nvPr/>
        </p:nvSpPr>
        <p:spPr>
          <a:xfrm>
            <a:off x="685800" y="1371600"/>
            <a:ext cx="10826496" cy="640080"/>
          </a:xfrm>
          <a:prstGeom prst="rect">
            <a:avLst/>
          </a:prstGeom>
          <a:noFill/>
          <a:ln/>
        </p:spPr>
        <p:txBody>
          <a:bodyPr wrap="square" lIns="0" tIns="0" rIns="0" bIns="0" rtlCol="0" anchor="ctr"/>
          <a:lstStyle/>
          <a:p>
            <a:pPr algn="ctr" indent="0" marL="0">
              <a:buNone/>
            </a:pPr>
            <a:r>
              <a:rPr lang="en-US" sz="1600" b="1" dirty="0">
                <a:solidFill>
                  <a:schemeClr val="tx1"/>
                </a:solidFill>
              </a:rPr>
              <a:t>main_controller.py: scan every 10 s, analyze every 3 cycles (single warm process)</a:t>
            </a:r>
            <a:endParaRPr lang="en-US" sz="1600" dirty="0"/>
          </a:p>
        </p:txBody>
      </p:sp>
      <p:sp>
        <p:nvSpPr>
          <p:cNvPr id="5" name="Stage Scanner"/>
          <p:cNvSpPr/>
          <p:nvPr/>
        </p:nvSpPr>
        <p:spPr>
          <a:xfrm>
            <a:off x="612648" y="2514600"/>
            <a:ext cx="1828800" cy="1371600"/>
          </a:xfrm>
          <a:prstGeom prst="rect">
            <a:avLst/>
          </a:prstGeom>
          <a:solidFill>
            <a:schemeClr val="bg2"/>
          </a:solidFill>
          <a:ln w="15875">
            <a:solidFill>
              <a:schemeClr val="tx1"/>
            </a:solidFill>
            <a:prstDash val="solid"/>
          </a:ln>
        </p:spPr>
      </p:sp>
      <p:sp>
        <p:nvSpPr>
          <p:cNvPr id="6" name="Text 4"/>
          <p:cNvSpPr txBox="1"/>
          <p:nvPr/>
        </p:nvSpPr>
        <p:spPr>
          <a:xfrm>
            <a:off x="685800" y="2514600"/>
            <a:ext cx="1682496" cy="1371600"/>
          </a:xfrm>
          <a:prstGeom prst="rect">
            <a:avLst/>
          </a:prstGeom>
          <a:noFill/>
          <a:ln/>
        </p:spPr>
        <p:txBody>
          <a:bodyPr wrap="square" lIns="0" tIns="0" rIns="0" bIns="0" rtlCol="0" anchor="ctr"/>
          <a:lstStyle/>
          <a:p>
            <a:pPr algn="ctr" indent="0" marL="0">
              <a:buNone/>
            </a:pPr>
            <a:r>
              <a:rPr lang="en-US" sz="1700" b="1" dirty="0">
                <a:solidFill>
                  <a:schemeClr val="tx1"/>
                </a:solidFill>
              </a:rPr>
              <a:t>Scanner</a:t>
            </a:r>
            <a:endParaRPr lang="en-US" sz="2000" dirty="0"/>
          </a:p>
          <a:p>
            <a:pPr algn="ctr" indent="0" marL="0">
              <a:buNone/>
            </a:pPr>
            <a:r>
              <a:rPr lang="en-US" sz="1400" dirty="0">
                <a:solidFill>
                  <a:schemeClr val="tx1"/>
                </a:solidFill>
              </a:rPr>
              <a:t>psutil, user32.dll,</a:t>
            </a:r>
            <a:endParaRPr lang="en-US" sz="2000" dirty="0"/>
          </a:p>
          <a:p>
            <a:pPr algn="ctr" indent="0" marL="0">
              <a:buNone/>
            </a:pPr>
            <a:r>
              <a:rPr lang="en-US" sz="1400" dirty="0">
                <a:solidFill>
                  <a:schemeClr val="tx1"/>
                </a:solidFill>
              </a:rPr>
              <a:t>DLL signatures</a:t>
            </a:r>
            <a:endParaRPr lang="en-US" sz="2000" dirty="0"/>
          </a:p>
        </p:txBody>
      </p:sp>
      <p:sp>
        <p:nvSpPr>
          <p:cNvPr id="7" name="Flow 1"/>
          <p:cNvSpPr/>
          <p:nvPr/>
        </p:nvSpPr>
        <p:spPr>
          <a:xfrm>
            <a:off x="2459736" y="3200400"/>
            <a:ext cx="420624" cy="0"/>
          </a:xfrm>
          <a:prstGeom prst="line">
            <a:avLst/>
          </a:prstGeom>
          <a:noFill/>
          <a:ln w="22225">
            <a:solidFill>
              <a:schemeClr val="tx1"/>
            </a:solidFill>
            <a:prstDash val="solid"/>
            <a:tailEnd type="triangle"/>
          </a:ln>
        </p:spPr>
      </p:sp>
      <p:sp>
        <p:nvSpPr>
          <p:cNvPr id="8" name="Stage ML Analysis"/>
          <p:cNvSpPr/>
          <p:nvPr/>
        </p:nvSpPr>
        <p:spPr>
          <a:xfrm>
            <a:off x="2898648" y="2514600"/>
            <a:ext cx="1828800" cy="1371600"/>
          </a:xfrm>
          <a:prstGeom prst="rect">
            <a:avLst/>
          </a:prstGeom>
          <a:solidFill>
            <a:schemeClr val="bg2"/>
          </a:solidFill>
          <a:ln w="15875">
            <a:solidFill>
              <a:schemeClr val="tx1"/>
            </a:solidFill>
            <a:prstDash val="solid"/>
          </a:ln>
        </p:spPr>
      </p:sp>
      <p:sp>
        <p:nvSpPr>
          <p:cNvPr id="9" name="Text 7"/>
          <p:cNvSpPr txBox="1"/>
          <p:nvPr/>
        </p:nvSpPr>
        <p:spPr>
          <a:xfrm>
            <a:off x="2971800" y="2514600"/>
            <a:ext cx="1682496" cy="1371600"/>
          </a:xfrm>
          <a:prstGeom prst="rect">
            <a:avLst/>
          </a:prstGeom>
          <a:noFill/>
          <a:ln/>
        </p:spPr>
        <p:txBody>
          <a:bodyPr wrap="square" lIns="0" tIns="0" rIns="0" bIns="0" rtlCol="0" anchor="ctr"/>
          <a:lstStyle/>
          <a:p>
            <a:pPr algn="ctr" indent="0" marL="0">
              <a:buNone/>
            </a:pPr>
            <a:r>
              <a:rPr lang="en-US" sz="1700" b="1" dirty="0">
                <a:solidFill>
                  <a:schemeClr val="tx1"/>
                </a:solidFill>
              </a:rPr>
              <a:t>ML Analysis</a:t>
            </a:r>
            <a:endParaRPr lang="en-US" sz="2000" dirty="0"/>
          </a:p>
          <a:p>
            <a:pPr algn="ctr" indent="0" marL="0">
              <a:buNone/>
            </a:pPr>
            <a:r>
              <a:rPr lang="en-US" sz="1400" dirty="0">
                <a:solidFill>
                  <a:schemeClr val="tx1"/>
                </a:solidFill>
              </a:rPr>
              <a:t>one PE parse feeds</a:t>
            </a:r>
            <a:endParaRPr lang="en-US" sz="2000" dirty="0"/>
          </a:p>
          <a:p>
            <a:pPr algn="ctr" indent="0" marL="0">
              <a:buNone/>
            </a:pPr>
            <a:r>
              <a:rPr lang="en-US" sz="1400" dirty="0">
                <a:solidFill>
                  <a:schemeClr val="tx1"/>
                </a:solidFill>
              </a:rPr>
              <a:t>both ML layers</a:t>
            </a:r>
            <a:endParaRPr lang="en-US" sz="2000" dirty="0"/>
          </a:p>
        </p:txBody>
      </p:sp>
      <p:sp>
        <p:nvSpPr>
          <p:cNvPr id="10" name="Flow 2"/>
          <p:cNvSpPr/>
          <p:nvPr/>
        </p:nvSpPr>
        <p:spPr>
          <a:xfrm>
            <a:off x="4745736" y="3200400"/>
            <a:ext cx="420624" cy="0"/>
          </a:xfrm>
          <a:prstGeom prst="line">
            <a:avLst/>
          </a:prstGeom>
          <a:noFill/>
          <a:ln w="22225">
            <a:solidFill>
              <a:schemeClr val="tx1"/>
            </a:solidFill>
            <a:prstDash val="solid"/>
            <a:tailEnd type="triangle"/>
          </a:ln>
        </p:spPr>
      </p:sp>
      <p:sp>
        <p:nvSpPr>
          <p:cNvPr id="11" name="Stage Snapshots"/>
          <p:cNvSpPr/>
          <p:nvPr/>
        </p:nvSpPr>
        <p:spPr>
          <a:xfrm>
            <a:off x="5184648" y="2514600"/>
            <a:ext cx="1828800" cy="1371600"/>
          </a:xfrm>
          <a:prstGeom prst="rect">
            <a:avLst/>
          </a:prstGeom>
          <a:solidFill>
            <a:schemeClr val="bg2"/>
          </a:solidFill>
          <a:ln w="15875">
            <a:solidFill>
              <a:schemeClr val="tx1"/>
            </a:solidFill>
            <a:prstDash val="solid"/>
          </a:ln>
        </p:spPr>
      </p:sp>
      <p:sp>
        <p:nvSpPr>
          <p:cNvPr id="12" name="Text 10"/>
          <p:cNvSpPr txBox="1"/>
          <p:nvPr/>
        </p:nvSpPr>
        <p:spPr>
          <a:xfrm>
            <a:off x="5257800" y="2514600"/>
            <a:ext cx="1682496" cy="1371600"/>
          </a:xfrm>
          <a:prstGeom prst="rect">
            <a:avLst/>
          </a:prstGeom>
          <a:noFill/>
          <a:ln/>
        </p:spPr>
        <p:txBody>
          <a:bodyPr wrap="square" lIns="0" tIns="0" rIns="0" bIns="0" rtlCol="0" anchor="ctr"/>
          <a:lstStyle/>
          <a:p>
            <a:pPr algn="ctr" indent="0" marL="0">
              <a:buNone/>
            </a:pPr>
            <a:r>
              <a:rPr lang="en-US" sz="1700" b="1" dirty="0">
                <a:solidFill>
                  <a:schemeClr val="tx1"/>
                </a:solidFill>
              </a:rPr>
              <a:t>Snapshots</a:t>
            </a:r>
            <a:endParaRPr lang="en-US" sz="2000" dirty="0"/>
          </a:p>
          <a:p>
            <a:pPr algn="ctr" indent="0" marL="0">
              <a:buNone/>
            </a:pPr>
            <a:r>
              <a:rPr lang="en-US" sz="1400" dirty="0">
                <a:solidFill>
                  <a:schemeClr val="tx1"/>
                </a:solidFill>
              </a:rPr>
              <a:t>timestamped JSON,</a:t>
            </a:r>
            <a:endParaRPr lang="en-US" sz="2000" dirty="0"/>
          </a:p>
          <a:p>
            <a:pPr algn="ctr" indent="0" marL="0">
              <a:buNone/>
            </a:pPr>
            <a:r>
              <a:rPr lang="en-US" sz="1400" dirty="0">
                <a:solidFill>
                  <a:schemeClr val="tx1"/>
                </a:solidFill>
              </a:rPr>
              <a:t>auto-pruned</a:t>
            </a:r>
            <a:endParaRPr lang="en-US" sz="2000" dirty="0"/>
          </a:p>
        </p:txBody>
      </p:sp>
      <p:sp>
        <p:nvSpPr>
          <p:cNvPr id="13" name="Flow 3"/>
          <p:cNvSpPr/>
          <p:nvPr/>
        </p:nvSpPr>
        <p:spPr>
          <a:xfrm>
            <a:off x="7031736" y="3200400"/>
            <a:ext cx="420624" cy="0"/>
          </a:xfrm>
          <a:prstGeom prst="line">
            <a:avLst/>
          </a:prstGeom>
          <a:noFill/>
          <a:ln w="22225">
            <a:solidFill>
              <a:schemeClr val="tx1"/>
            </a:solidFill>
            <a:prstDash val="solid"/>
            <a:tailEnd type="triangle"/>
          </a:ln>
        </p:spPr>
      </p:sp>
      <p:sp>
        <p:nvSpPr>
          <p:cNvPr id="14" name="Stage Temporal Analyzer"/>
          <p:cNvSpPr/>
          <p:nvPr/>
        </p:nvSpPr>
        <p:spPr>
          <a:xfrm>
            <a:off x="7470648" y="2514600"/>
            <a:ext cx="1828800" cy="1371600"/>
          </a:xfrm>
          <a:prstGeom prst="rect">
            <a:avLst/>
          </a:prstGeom>
          <a:solidFill>
            <a:schemeClr val="bg2"/>
          </a:solidFill>
          <a:ln w="15875">
            <a:solidFill>
              <a:schemeClr val="tx1"/>
            </a:solidFill>
            <a:prstDash val="solid"/>
          </a:ln>
        </p:spPr>
      </p:sp>
      <p:sp>
        <p:nvSpPr>
          <p:cNvPr id="15" name="Text 13"/>
          <p:cNvSpPr txBox="1"/>
          <p:nvPr/>
        </p:nvSpPr>
        <p:spPr>
          <a:xfrm>
            <a:off x="7543800" y="2514600"/>
            <a:ext cx="1682496" cy="1371600"/>
          </a:xfrm>
          <a:prstGeom prst="rect">
            <a:avLst/>
          </a:prstGeom>
          <a:noFill/>
          <a:ln/>
        </p:spPr>
        <p:txBody>
          <a:bodyPr wrap="square" lIns="0" tIns="0" rIns="0" bIns="0" rtlCol="0" anchor="ctr"/>
          <a:lstStyle/>
          <a:p>
            <a:pPr algn="ctr" indent="0" marL="0">
              <a:buNone/>
            </a:pPr>
            <a:r>
              <a:rPr lang="en-US" sz="1700" b="1" dirty="0">
                <a:solidFill>
                  <a:schemeClr val="tx1"/>
                </a:solidFill>
              </a:rPr>
              <a:t>Temporal Analyzer</a:t>
            </a:r>
            <a:endParaRPr lang="en-US" sz="2000" dirty="0"/>
          </a:p>
          <a:p>
            <a:pPr algn="ctr" indent="0" marL="0">
              <a:buNone/>
            </a:pPr>
            <a:r>
              <a:rPr lang="en-US" sz="1400" dirty="0">
                <a:solidFill>
                  <a:schemeClr val="tx1"/>
                </a:solidFill>
              </a:rPr>
              <a:t>diffs snapshots</a:t>
            </a:r>
            <a:endParaRPr lang="en-US" sz="2000" dirty="0"/>
          </a:p>
          <a:p>
            <a:pPr algn="ctr" indent="0" marL="0">
              <a:buNone/>
            </a:pPr>
            <a:r>
              <a:rPr lang="en-US" sz="1400" dirty="0">
                <a:solidFill>
                  <a:schemeClr val="tx1"/>
                </a:solidFill>
              </a:rPr>
              <a:t>into events</a:t>
            </a:r>
            <a:endParaRPr lang="en-US" sz="2000" dirty="0"/>
          </a:p>
        </p:txBody>
      </p:sp>
      <p:sp>
        <p:nvSpPr>
          <p:cNvPr id="16" name="Flow 4"/>
          <p:cNvSpPr/>
          <p:nvPr/>
        </p:nvSpPr>
        <p:spPr>
          <a:xfrm>
            <a:off x="9317736" y="3200400"/>
            <a:ext cx="420624" cy="0"/>
          </a:xfrm>
          <a:prstGeom prst="line">
            <a:avLst/>
          </a:prstGeom>
          <a:noFill/>
          <a:ln w="22225">
            <a:solidFill>
              <a:schemeClr val="tx1"/>
            </a:solidFill>
            <a:prstDash val="solid"/>
            <a:tailEnd type="triangle"/>
          </a:ln>
        </p:spPr>
      </p:sp>
      <p:sp>
        <p:nvSpPr>
          <p:cNvPr id="17" name="Stage Risk Engine"/>
          <p:cNvSpPr/>
          <p:nvPr/>
        </p:nvSpPr>
        <p:spPr>
          <a:xfrm>
            <a:off x="9756648" y="2514600"/>
            <a:ext cx="1828800" cy="1371600"/>
          </a:xfrm>
          <a:prstGeom prst="rect">
            <a:avLst/>
          </a:prstGeom>
          <a:solidFill>
            <a:schemeClr val="bg2"/>
          </a:solidFill>
          <a:ln w="15875">
            <a:solidFill>
              <a:schemeClr val="tx1"/>
            </a:solidFill>
            <a:prstDash val="solid"/>
          </a:ln>
        </p:spPr>
      </p:sp>
      <p:sp>
        <p:nvSpPr>
          <p:cNvPr id="18" name="Text 16"/>
          <p:cNvSpPr txBox="1"/>
          <p:nvPr/>
        </p:nvSpPr>
        <p:spPr>
          <a:xfrm>
            <a:off x="9829800" y="2514600"/>
            <a:ext cx="1682496" cy="1371600"/>
          </a:xfrm>
          <a:prstGeom prst="rect">
            <a:avLst/>
          </a:prstGeom>
          <a:noFill/>
          <a:ln/>
        </p:spPr>
        <p:txBody>
          <a:bodyPr wrap="square" lIns="0" tIns="0" rIns="0" bIns="0" rtlCol="0" anchor="ctr"/>
          <a:lstStyle/>
          <a:p>
            <a:pPr algn="ctr" indent="0" marL="0">
              <a:buNone/>
            </a:pPr>
            <a:r>
              <a:rPr lang="en-US" sz="1700" b="1" dirty="0">
                <a:solidFill>
                  <a:schemeClr val="tx1"/>
                </a:solidFill>
              </a:rPr>
              <a:t>Risk Engine</a:t>
            </a:r>
            <a:endParaRPr lang="en-US" sz="2000" dirty="0"/>
          </a:p>
          <a:p>
            <a:pPr algn="ctr" indent="0" marL="0">
              <a:buNone/>
            </a:pPr>
            <a:r>
              <a:rPr lang="en-US" sz="1400" dirty="0">
                <a:solidFill>
                  <a:schemeClr val="tx1"/>
                </a:solidFill>
              </a:rPr>
              <a:t>gated score</a:t>
            </a:r>
            <a:endParaRPr lang="en-US" sz="2000" dirty="0"/>
          </a:p>
          <a:p>
            <a:pPr algn="ctr" indent="0" marL="0">
              <a:buNone/>
            </a:pPr>
            <a:r>
              <a:rPr lang="en-US" sz="1400" dirty="0">
                <a:solidFill>
                  <a:schemeClr val="tx1"/>
                </a:solidFill>
              </a:rPr>
              <a:t>+ decay</a:t>
            </a:r>
            <a:endParaRPr lang="en-US" sz="2000" dirty="0"/>
          </a:p>
        </p:txBody>
      </p:sp>
      <p:sp>
        <p:nvSpPr>
          <p:cNvPr id="19" name="Flow down"/>
          <p:cNvSpPr/>
          <p:nvPr/>
        </p:nvSpPr>
        <p:spPr>
          <a:xfrm>
            <a:off x="10671048" y="3904488"/>
            <a:ext cx="0" cy="502920"/>
          </a:xfrm>
          <a:prstGeom prst="line">
            <a:avLst/>
          </a:prstGeom>
          <a:noFill/>
          <a:ln w="22225">
            <a:solidFill>
              <a:schemeClr val="tx1"/>
            </a:solidFill>
            <a:prstDash val="solid"/>
            <a:tailEnd type="triangle"/>
          </a:ln>
        </p:spPr>
      </p:sp>
      <p:sp>
        <p:nvSpPr>
          <p:cNvPr id="20" name="Box temporal_state.json"/>
          <p:cNvSpPr/>
          <p:nvPr/>
        </p:nvSpPr>
        <p:spPr>
          <a:xfrm>
            <a:off x="9052560" y="4434840"/>
            <a:ext cx="2743200" cy="731520"/>
          </a:xfrm>
          <a:prstGeom prst="rect">
            <a:avLst/>
          </a:prstGeom>
          <a:solidFill>
            <a:schemeClr val="bg2"/>
          </a:solidFill>
          <a:ln w="15875">
            <a:solidFill>
              <a:schemeClr val="tx1"/>
            </a:solidFill>
            <a:prstDash val="solid"/>
          </a:ln>
        </p:spPr>
      </p:sp>
      <p:sp>
        <p:nvSpPr>
          <p:cNvPr id="21" name="Text 19"/>
          <p:cNvSpPr txBox="1"/>
          <p:nvPr/>
        </p:nvSpPr>
        <p:spPr>
          <a:xfrm>
            <a:off x="9125712" y="4434840"/>
            <a:ext cx="2596896" cy="731520"/>
          </a:xfrm>
          <a:prstGeom prst="rect">
            <a:avLst/>
          </a:prstGeom>
          <a:noFill/>
          <a:ln/>
        </p:spPr>
        <p:txBody>
          <a:bodyPr wrap="square" lIns="0" tIns="0" rIns="0" bIns="0" rtlCol="0" anchor="ctr"/>
          <a:lstStyle/>
          <a:p>
            <a:pPr algn="ctr" indent="0" marL="0">
              <a:buNone/>
            </a:pPr>
            <a:r>
              <a:rPr lang="en-US" sz="1400" dirty="0">
                <a:solidFill>
                  <a:schemeClr val="tx1"/>
                </a:solidFill>
              </a:rPr>
              <a:t>temporal_state.json</a:t>
            </a:r>
            <a:endParaRPr lang="en-US" sz="1400" dirty="0"/>
          </a:p>
          <a:p>
            <a:pPr algn="ctr" indent="0" marL="0">
              <a:buNone/>
            </a:pPr>
            <a:r>
              <a:rPr lang="en-US" sz="1400" dirty="0">
                <a:solidFill>
                  <a:schemeClr val="tx1"/>
                </a:solidFill>
              </a:rPr>
              <a:t>(persistent risk memory)</a:t>
            </a:r>
            <a:endParaRPr lang="en-US" sz="1400" dirty="0"/>
          </a:p>
        </p:txBody>
      </p:sp>
      <p:sp>
        <p:nvSpPr>
          <p:cNvPr id="22" name="Flow out 1"/>
          <p:cNvSpPr/>
          <p:nvPr/>
        </p:nvSpPr>
        <p:spPr>
          <a:xfrm>
            <a:off x="7818120" y="4800600"/>
            <a:ext cx="1216152" cy="0"/>
          </a:xfrm>
          <a:prstGeom prst="line">
            <a:avLst/>
          </a:prstGeom>
          <a:noFill/>
          <a:ln w="22225">
            <a:solidFill>
              <a:schemeClr val="tx1"/>
            </a:solidFill>
            <a:prstDash val="solid"/>
            <a:headEnd type="triangle"/>
          </a:ln>
        </p:spPr>
      </p:sp>
      <p:sp>
        <p:nvSpPr>
          <p:cNvPr id="23" name="Box Web dashboard"/>
          <p:cNvSpPr/>
          <p:nvPr/>
        </p:nvSpPr>
        <p:spPr>
          <a:xfrm>
            <a:off x="5806440" y="4434840"/>
            <a:ext cx="2011680" cy="731520"/>
          </a:xfrm>
          <a:prstGeom prst="rect">
            <a:avLst/>
          </a:prstGeom>
          <a:solidFill>
            <a:schemeClr val="bg2"/>
          </a:solidFill>
          <a:ln w="15875">
            <a:solidFill>
              <a:schemeClr val="tx1"/>
            </a:solidFill>
            <a:prstDash val="solid"/>
          </a:ln>
        </p:spPr>
      </p:sp>
      <p:sp>
        <p:nvSpPr>
          <p:cNvPr id="24" name="Text 22"/>
          <p:cNvSpPr txBox="1"/>
          <p:nvPr/>
        </p:nvSpPr>
        <p:spPr>
          <a:xfrm>
            <a:off x="5879592" y="4434840"/>
            <a:ext cx="1865376" cy="731520"/>
          </a:xfrm>
          <a:prstGeom prst="rect">
            <a:avLst/>
          </a:prstGeom>
          <a:noFill/>
          <a:ln/>
        </p:spPr>
        <p:txBody>
          <a:bodyPr wrap="square" lIns="0" tIns="0" rIns="0" bIns="0" rtlCol="0" anchor="ctr"/>
          <a:lstStyle/>
          <a:p>
            <a:pPr algn="ctr" indent="0" marL="0">
              <a:buNone/>
            </a:pPr>
            <a:r>
              <a:rPr lang="en-US" sz="1400" dirty="0">
                <a:solidFill>
                  <a:schemeClr val="tx1"/>
                </a:solidFill>
              </a:rPr>
              <a:t>Web dashboard</a:t>
            </a:r>
            <a:endParaRPr lang="en-US" sz="1400" dirty="0"/>
          </a:p>
          <a:p>
            <a:pPr algn="ctr" indent="0" marL="0">
              <a:buNone/>
            </a:pPr>
            <a:r>
              <a:rPr lang="en-US" sz="1400" dirty="0">
                <a:solidFill>
                  <a:schemeClr val="tx1"/>
                </a:solidFill>
              </a:rPr>
              <a:t>(Flask, read-only)</a:t>
            </a:r>
            <a:endParaRPr lang="en-US" sz="1400" dirty="0"/>
          </a:p>
        </p:txBody>
      </p:sp>
      <p:sp>
        <p:nvSpPr>
          <p:cNvPr id="25" name="Flow out 2"/>
          <p:cNvSpPr/>
          <p:nvPr/>
        </p:nvSpPr>
        <p:spPr>
          <a:xfrm>
            <a:off x="5623560" y="4800600"/>
            <a:ext cx="182880" cy="0"/>
          </a:xfrm>
          <a:prstGeom prst="line">
            <a:avLst/>
          </a:prstGeom>
          <a:noFill/>
          <a:ln w="22225">
            <a:solidFill>
              <a:schemeClr val="tx1"/>
            </a:solidFill>
            <a:prstDash val="solid"/>
          </a:ln>
        </p:spPr>
      </p:sp>
      <p:sp>
        <p:nvSpPr>
          <p:cNvPr id="26" name="Box Report CLI"/>
          <p:cNvSpPr/>
          <p:nvPr/>
        </p:nvSpPr>
        <p:spPr>
          <a:xfrm>
            <a:off x="3611880" y="4434840"/>
            <a:ext cx="2011680" cy="731520"/>
          </a:xfrm>
          <a:prstGeom prst="rect">
            <a:avLst/>
          </a:prstGeom>
          <a:solidFill>
            <a:schemeClr val="bg2"/>
          </a:solidFill>
          <a:ln w="15875">
            <a:solidFill>
              <a:schemeClr val="tx1"/>
            </a:solidFill>
            <a:prstDash val="solid"/>
          </a:ln>
        </p:spPr>
      </p:sp>
      <p:sp>
        <p:nvSpPr>
          <p:cNvPr id="27" name="Text 25"/>
          <p:cNvSpPr txBox="1"/>
          <p:nvPr/>
        </p:nvSpPr>
        <p:spPr>
          <a:xfrm>
            <a:off x="3685032" y="4434840"/>
            <a:ext cx="1865376" cy="731520"/>
          </a:xfrm>
          <a:prstGeom prst="rect">
            <a:avLst/>
          </a:prstGeom>
          <a:noFill/>
          <a:ln/>
        </p:spPr>
        <p:txBody>
          <a:bodyPr wrap="square" lIns="0" tIns="0" rIns="0" bIns="0" rtlCol="0" anchor="ctr"/>
          <a:lstStyle/>
          <a:p>
            <a:pPr algn="ctr" indent="0" marL="0">
              <a:buNone/>
            </a:pPr>
            <a:r>
              <a:rPr lang="en-US" sz="1400" dirty="0">
                <a:solidFill>
                  <a:schemeClr val="tx1"/>
                </a:solidFill>
              </a:rPr>
              <a:t>Report CLI</a:t>
            </a:r>
            <a:endParaRPr lang="en-US" sz="1400" dirty="0"/>
          </a:p>
          <a:p>
            <a:pPr algn="ctr" indent="0" marL="0">
              <a:buNone/>
            </a:pPr>
            <a:r>
              <a:rPr lang="en-US" sz="1400" dirty="0">
                <a:solidFill>
                  <a:schemeClr val="tx1"/>
                </a:solidFill>
              </a:rPr>
              <a:t>(terminal table)</a:t>
            </a:r>
            <a:endParaRPr lang="en-US" sz="1400" dirty="0"/>
          </a:p>
        </p:txBody>
      </p:sp>
      <p:sp>
        <p:nvSpPr>
          <p:cNvPr id="28" name="Caption"/>
          <p:cNvSpPr txBox="1"/>
          <p:nvPr/>
        </p:nvSpPr>
        <p:spPr>
          <a:xfrm>
            <a:off x="365760" y="5623560"/>
            <a:ext cx="11430000" cy="365760"/>
          </a:xfrm>
          <a:prstGeom prst="rect">
            <a:avLst/>
          </a:prstGeom>
          <a:noFill/>
          <a:ln/>
        </p:spPr>
        <p:txBody>
          <a:bodyPr wrap="square" lIns="0" tIns="0" rIns="0" bIns="0" rtlCol="0" anchor="t"/>
          <a:lstStyle/>
          <a:p>
            <a:pPr algn="ctr" indent="0" marL="0">
              <a:buNone/>
            </a:pPr>
            <a:r>
              <a:rPr lang="en-US" sz="1600" b="1" dirty="0">
                <a:solidFill>
                  <a:schemeClr val="tx2"/>
                </a:solidFill>
              </a:rPr>
              <a:t>Figure 6.1: Architecture of the proposed system</a:t>
            </a:r>
            <a:endParaRPr lang="en-US" sz="16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Architecture (2/2)</a:t>
            </a:r>
            <a:endParaRPr lang="en-US" sz="3800" dirty="0"/>
          </a:p>
        </p:txBody>
      </p:sp>
      <p:sp>
        <p:nvSpPr>
          <p:cNvPr id="3" name="Left heading"/>
          <p:cNvSpPr txBox="1"/>
          <p:nvPr/>
        </p:nvSpPr>
        <p:spPr>
          <a:xfrm>
            <a:off x="365760" y="1371600"/>
            <a:ext cx="5486400" cy="365760"/>
          </a:xfrm>
          <a:prstGeom prst="rect">
            <a:avLst/>
          </a:prstGeom>
          <a:noFill/>
          <a:ln/>
        </p:spPr>
        <p:txBody>
          <a:bodyPr wrap="square" lIns="0" tIns="0" rIns="0" bIns="0" rtlCol="0" anchor="t"/>
          <a:lstStyle/>
          <a:p>
            <a:pPr indent="0" marL="0">
              <a:buNone/>
            </a:pPr>
            <a:r>
              <a:rPr lang="en-US" sz="2200" b="1" dirty="0">
                <a:solidFill>
                  <a:schemeClr val="tx2"/>
                </a:solidFill>
              </a:rPr>
              <a:t>Capability classification</a:t>
            </a:r>
            <a:endParaRPr lang="en-US" sz="2200" dirty="0"/>
          </a:p>
        </p:txBody>
      </p:sp>
      <p:sp>
        <p:nvSpPr>
          <p:cNvPr id="4" name="Classification steps"/>
          <p:cNvSpPr txBox="1"/>
          <p:nvPr/>
        </p:nvSpPr>
        <p:spPr>
          <a:xfrm>
            <a:off x="365760" y="1828800"/>
            <a:ext cx="5669280" cy="4023360"/>
          </a:xfrm>
          <a:prstGeom prst="rect">
            <a:avLst/>
          </a:prstGeom>
          <a:noFill/>
          <a:ln/>
        </p:spPr>
        <p:txBody>
          <a:bodyPr wrap="square" lIns="0" tIns="0" rIns="0" bIns="0" rtlCol="0" anchor="t"/>
          <a:lstStyle/>
          <a:p>
            <a:pPr algn="just" marL="342900" indent="-342900">
              <a:spcAft>
                <a:spcPts val="1000"/>
              </a:spcAft>
              <a:buSzPct val="100000"/>
              <a:buFont typeface="+mj-lt"/>
              <a:buAutoNum type="arabicPeriod" startAt="1"/>
            </a:pPr>
            <a:r>
              <a:rPr lang="en-US" sz="1900" dirty="0">
                <a:solidFill>
                  <a:schemeClr val="tx1"/>
                </a:solidFill>
              </a:rPr>
              <a:t>Enumerate processes with psutil; skip allowlisted names.</a:t>
            </a:r>
            <a:endParaRPr lang="en-US" sz="1900" dirty="0"/>
          </a:p>
          <a:p>
            <a:pPr algn="just" marL="342900" indent="-342900">
              <a:spcAft>
                <a:spcPts val="1000"/>
              </a:spcAft>
              <a:buSzPct val="100000"/>
              <a:buFont typeface="+mj-lt"/>
              <a:buAutoNum type="arabicPeriod" startAt="1"/>
            </a:pPr>
            <a:r>
              <a:rPr lang="en-US" sz="1900" dirty="0">
                <a:solidFill>
                  <a:schemeClr val="tx1"/>
                </a:solidFill>
              </a:rPr>
              <a:t>Check whether user32.dll is mapped; if not, skip.</a:t>
            </a:r>
            <a:endParaRPr lang="en-US" sz="1900" dirty="0"/>
          </a:p>
          <a:p>
            <a:pPr algn="just" marL="342900" indent="-342900">
              <a:spcAft>
                <a:spcPts val="1000"/>
              </a:spcAft>
              <a:buSzPct val="100000"/>
              <a:buFont typeface="+mj-lt"/>
              <a:buAutoNum type="arabicPeriod" startAt="1"/>
            </a:pPr>
            <a:r>
              <a:rPr lang="en-US" sz="1900" dirty="0">
                <a:solidFill>
                  <a:schemeClr val="tx1"/>
                </a:solidFill>
              </a:rPr>
              <a:t>Non-system DLL loaded: DLL_HOOK_SUSPECT. Otherwise an executable outside the Windows folder: EXE_HOOK_SUSPECT.</a:t>
            </a:r>
            <a:endParaRPr lang="en-US" sz="1900" dirty="0"/>
          </a:p>
          <a:p>
            <a:pPr algn="just" marL="342900" indent="-342900">
              <a:buSzPct val="100000"/>
              <a:buFont typeface="+mj-lt"/>
              <a:buAutoNum type="arabicPeriod" startAt="1"/>
            </a:pPr>
            <a:r>
              <a:rPr lang="en-US" sz="1900" dirty="0">
                <a:solidFill>
                  <a:schemeClr val="tx1"/>
                </a:solidFill>
              </a:rPr>
              <a:t>Score the executable: signature, SHA-256, malware ML and ATT&amp;CK API fingerprint.</a:t>
            </a:r>
            <a:endParaRPr lang="en-US" sz="1900" dirty="0"/>
          </a:p>
        </p:txBody>
      </p:sp>
      <p:sp>
        <p:nvSpPr>
          <p:cNvPr id="5" name="Right heading"/>
          <p:cNvSpPr txBox="1"/>
          <p:nvPr/>
        </p:nvSpPr>
        <p:spPr>
          <a:xfrm>
            <a:off x="6492240" y="1371600"/>
            <a:ext cx="5303520" cy="365760"/>
          </a:xfrm>
          <a:prstGeom prst="rect">
            <a:avLst/>
          </a:prstGeom>
          <a:noFill/>
          <a:ln/>
        </p:spPr>
        <p:txBody>
          <a:bodyPr wrap="square" lIns="0" tIns="0" rIns="0" bIns="0" rtlCol="0" anchor="t"/>
          <a:lstStyle/>
          <a:p>
            <a:pPr indent="0" marL="0">
              <a:buNone/>
            </a:pPr>
            <a:r>
              <a:rPr lang="en-US" sz="2200" b="1" dirty="0">
                <a:solidFill>
                  <a:schemeClr val="tx2"/>
                </a:solidFill>
              </a:rPr>
              <a:t>Behavior events</a:t>
            </a:r>
            <a:endParaRPr lang="en-US" sz="2200" dirty="0"/>
          </a:p>
        </p:txBody>
      </p:sp>
      <p:graphicFrame>
        <p:nvGraphicFramePr>
          <p:cNvPr id="15" name="Events table"/>
          <p:cNvGraphicFramePr>
            <a:graphicFrameLocks noGrp="1"/>
          </p:cNvGraphicFramePr>
          <p:nvPr>
            <p:extLst>
              <p:ext uri="{D42A27DB-BD31-4B8C-83A1-F6EECF244321}">
                <p14:modId xmlns:p14="http://schemas.microsoft.com/office/powerpoint/2010/main" val="1579011935"/>
              </p:ext>
            </p:extLst>
          </p:nvPr>
        </p:nvGraphicFramePr>
        <p:xfrm>
          <a:off x="6492240" y="1828800"/>
          <a:ext cx="5303520" cy="914400"/>
        </p:xfrm>
        <a:graphic>
          <a:graphicData uri="http://schemas.openxmlformats.org/drawingml/2006/table">
            <a:tbl>
              <a:tblPr/>
              <a:tblGrid>
                <a:gridCol w="2194560"/>
                <a:gridCol w="3108960"/>
              </a:tblGrid>
              <a:tr h="457200">
                <a:tc>
                  <a:txBody>
                    <a:bodyPr/>
                    <a:lstStyle/>
                    <a:p>
                      <a:pPr indent="0" marL="0">
                        <a:buNone/>
                      </a:pPr>
                      <a:r>
                        <a:rPr lang="en-US" sz="1800" b="1" dirty="0">
                          <a:solidFill>
                            <a:schemeClr val="tx1"/>
                          </a:solidFill>
                        </a:rPr>
                        <a:t>EVENT</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TRIGGER</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85800">
                <a:tc>
                  <a:txBody>
                    <a:bodyPr/>
                    <a:lstStyle/>
                    <a:p>
                      <a:pPr indent="0" marL="0">
                        <a:buNone/>
                      </a:pPr>
                      <a:r>
                        <a:rPr lang="en-US" sz="1400" dirty="0">
                          <a:solidFill>
                            <a:schemeClr val="tx1"/>
                          </a:solidFill>
                        </a:rPr>
                        <a:t>SUSPECT_DETECTED</a:t>
                      </a:r>
                      <a:endParaRPr lang="en-US" sz="14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First sighting of a hook-capable process</a:t>
                      </a:r>
                      <a:endParaRPr lang="en-US" sz="14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85800">
                <a:tc>
                  <a:txBody>
                    <a:bodyPr/>
                    <a:lstStyle/>
                    <a:p>
                      <a:pPr indent="0" marL="0">
                        <a:buNone/>
                      </a:pPr>
                      <a:r>
                        <a:rPr lang="en-US" sz="1400" dirty="0">
                          <a:solidFill>
                            <a:schemeClr val="tx1"/>
                          </a:solidFill>
                        </a:rPr>
                        <a:t>HOOK_APPEARED</a:t>
                      </a:r>
                      <a:endParaRPr lang="en-US" sz="14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Hook DLLs appear where there were none</a:t>
                      </a:r>
                      <a:endParaRPr lang="en-US" sz="14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85800">
                <a:tc>
                  <a:txBody>
                    <a:bodyPr/>
                    <a:lstStyle/>
                    <a:p>
                      <a:pPr indent="0" marL="0">
                        <a:buNone/>
                      </a:pPr>
                      <a:r>
                        <a:rPr lang="en-US" sz="1400" dirty="0">
                          <a:solidFill>
                            <a:schemeClr val="tx1"/>
                          </a:solidFill>
                        </a:rPr>
                        <a:t>NEW_HOOK_MODULE</a:t>
                      </a:r>
                      <a:endParaRPr lang="en-US" sz="14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 new hook-carrying DLL is added</a:t>
                      </a:r>
                      <a:endParaRPr lang="en-US" sz="14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85800">
                <a:tc>
                  <a:txBody>
                    <a:bodyPr/>
                    <a:lstStyle/>
                    <a:p>
                      <a:pPr indent="0" marL="0">
                        <a:buNone/>
                      </a:pPr>
                      <a:r>
                        <a:rPr lang="en-US" sz="1400" dirty="0">
                          <a:solidFill>
                            <a:schemeClr val="tx1"/>
                          </a:solidFill>
                        </a:rPr>
                        <a:t>HOOK_REMOVED</a:t>
                      </a:r>
                      <a:endParaRPr lang="en-US" sz="14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Hook capability disappears; risk falls</a:t>
                      </a:r>
                      <a:endParaRPr lang="en-US" sz="14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7" name="Identity note"/>
          <p:cNvSpPr txBox="1"/>
          <p:nvPr/>
        </p:nvSpPr>
        <p:spPr>
          <a:xfrm>
            <a:off x="6492240" y="5394960"/>
            <a:ext cx="5303520" cy="640080"/>
          </a:xfrm>
          <a:prstGeom prst="rect">
            <a:avLst/>
          </a:prstGeom>
          <a:noFill/>
          <a:ln/>
        </p:spPr>
        <p:txBody>
          <a:bodyPr wrap="square" lIns="0" tIns="0" rIns="0" bIns="0" rtlCol="0" anchor="t"/>
          <a:lstStyle/>
          <a:p>
            <a:pPr indent="0" marL="0">
              <a:buNone/>
            </a:pPr>
            <a:r>
              <a:rPr lang="en-US" sz="1500" i="1" dirty="0">
                <a:solidFill>
                  <a:schemeClr val="tx1"/>
                </a:solidFill>
              </a:rPr>
              <a:t>A process identity is the executable path plus its creation time, so it stays stable across PID reuse.</a:t>
            </a:r>
            <a:endParaRPr lang="en-US" sz="15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Implementation Details (1/3)</a:t>
            </a:r>
            <a:endParaRPr lang="en-US" sz="3800" dirty="0"/>
          </a:p>
        </p:txBody>
      </p:sp>
      <p:graphicFrame>
        <p:nvGraphicFramePr>
          <p:cNvPr id="16" name="Tools table"/>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2926080"/>
                <a:gridCol w="3749040"/>
                <a:gridCol w="4754880"/>
              </a:tblGrid>
              <a:tr h="502920">
                <a:tc>
                  <a:txBody>
                    <a:bodyPr/>
                    <a:lstStyle/>
                    <a:p>
                      <a:pPr indent="0" marL="0">
                        <a:buNone/>
                      </a:pPr>
                      <a:r>
                        <a:rPr lang="en-US" sz="1800" b="1" dirty="0">
                          <a:solidFill>
                            <a:schemeClr val="tx1"/>
                          </a:solidFill>
                        </a:rPr>
                        <a:t>COMPONENT</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TOOL / LIBRARY</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PURPOSE</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0352">
                <a:tc>
                  <a:txBody>
                    <a:bodyPr/>
                    <a:lstStyle/>
                    <a:p>
                      <a:pPr indent="0" marL="0">
                        <a:buNone/>
                      </a:pPr>
                      <a:r>
                        <a:rPr lang="en-US" sz="1800" dirty="0">
                          <a:solidFill>
                            <a:schemeClr val="tx1"/>
                          </a:solidFill>
                        </a:rPr>
                        <a:t>Language</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Python 3.10 / 3.11</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About 2,000 lines across 16 modules</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0352">
                <a:tc>
                  <a:txBody>
                    <a:bodyPr/>
                    <a:lstStyle/>
                    <a:p>
                      <a:pPr indent="0" marL="0">
                        <a:buNone/>
                      </a:pPr>
                      <a:r>
                        <a:rPr lang="en-US" sz="1800" dirty="0">
                          <a:solidFill>
                            <a:schemeClr val="tx1"/>
                          </a:solidFill>
                        </a:rPr>
                        <a:t>Process enumeration</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psutil</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Running processes and their memory maps</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0352">
                <a:tc>
                  <a:txBody>
                    <a:bodyPr/>
                    <a:lstStyle/>
                    <a:p>
                      <a:pPr indent="0" marL="0">
                        <a:buNone/>
                      </a:pPr>
                      <a:r>
                        <a:rPr lang="en-US" sz="1800" dirty="0">
                          <a:solidFill>
                            <a:schemeClr val="tx1"/>
                          </a:solidFill>
                        </a:rPr>
                        <a:t>PE parsing</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pefile</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67 header-level features per executable</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0352">
                <a:tc>
                  <a:txBody>
                    <a:bodyPr/>
                    <a:lstStyle/>
                    <a:p>
                      <a:pPr indent="0" marL="0">
                        <a:buNone/>
                      </a:pPr>
                      <a:r>
                        <a:rPr lang="en-US" sz="1800" dirty="0">
                          <a:solidFill>
                            <a:schemeClr val="tx1"/>
                          </a:solidFill>
                        </a:rPr>
                        <a:t>Machine learning</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scikit-learn, joblib</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RandomForest training; model save and load</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0352">
                <a:tc>
                  <a:txBody>
                    <a:bodyPr/>
                    <a:lstStyle/>
                    <a:p>
                      <a:pPr indent="0" marL="0">
                        <a:buNone/>
                      </a:pPr>
                      <a:r>
                        <a:rPr lang="en-US" sz="1800" dirty="0">
                          <a:solidFill>
                            <a:schemeClr val="tx1"/>
                          </a:solidFill>
                        </a:rPr>
                        <a:t>Signature check</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ctypes + WinVerifyTrust</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Authenticode check with no subprocess</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0352">
                <a:tc>
                  <a:txBody>
                    <a:bodyPr/>
                    <a:lstStyle/>
                    <a:p>
                      <a:pPr indent="0" marL="0">
                        <a:buNone/>
                      </a:pPr>
                      <a:r>
                        <a:rPr lang="en-US" sz="1800" dirty="0">
                          <a:solidFill>
                            <a:schemeClr val="tx1"/>
                          </a:solidFill>
                        </a:rPr>
                        <a:t>Dashboard</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Flask, JavaScript, CSS</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Live, read-only risk view on 127.0.0.1</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0352">
                <a:tc>
                  <a:txBody>
                    <a:bodyPr/>
                    <a:lstStyle/>
                    <a:p>
                      <a:pPr indent="0" marL="0">
                        <a:buNone/>
                      </a:pPr>
                      <a:r>
                        <a:rPr lang="en-US" sz="1800" dirty="0">
                          <a:solidFill>
                            <a:schemeClr val="tx1"/>
                          </a:solidFill>
                        </a:rPr>
                        <a:t>Testing and CI</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pytest, GitHub Actions</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Ubuntu and Windows runners</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530352">
                <a:tc>
                  <a:txBody>
                    <a:bodyPr/>
                    <a:lstStyle/>
                    <a:p>
                      <a:pPr indent="0" marL="0">
                        <a:buNone/>
                      </a:pPr>
                      <a:r>
                        <a:rPr lang="en-US" sz="1800" dirty="0">
                          <a:solidFill>
                            <a:schemeClr val="tx1"/>
                          </a:solidFill>
                        </a:rPr>
                        <a:t>Data and knowledge</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ClaMP dataset, MITRE ATT&amp;CK</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Training data and API taxonomy</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Implementation Details (2/3)</a:t>
            </a:r>
            <a:endParaRPr lang="en-US" sz="3800" dirty="0"/>
          </a:p>
        </p:txBody>
      </p:sp>
      <p:sp>
        <p:nvSpPr>
          <p:cNvPr id="3" name="Text 1"/>
          <p:cNvSpPr txBox="1"/>
          <p:nvPr/>
        </p:nvSpPr>
        <p:spPr>
          <a:xfrm>
            <a:off x="822960" y="1417320"/>
            <a:ext cx="10607040" cy="4480560"/>
          </a:xfrm>
          <a:prstGeom prst="rect">
            <a:avLst/>
          </a:prstGeom>
          <a:noFill/>
          <a:ln/>
        </p:spPr>
        <p:txBody>
          <a:bodyPr wrap="square" lIns="0" tIns="0" rIns="0" bIns="0" rtlCol="0" anchor="t"/>
          <a:lstStyle/>
          <a:p>
            <a:pPr algn="just" marL="342900" indent="-342900">
              <a:lnSpc>
                <a:spcPct val="105000"/>
              </a:lnSpc>
              <a:spcAft>
                <a:spcPts val="1200"/>
              </a:spcAft>
              <a:buSzPct val="100000"/>
              <a:buChar char="•"/>
            </a:pPr>
            <a:r>
              <a:rPr lang="en-US" sz="2100" dirty="0">
                <a:solidFill>
                  <a:schemeClr val="tx1"/>
                </a:solidFill>
              </a:rPr>
              <a:t>Dataset: ClaMP, 5,210 real Windows executables (2,722 malware, 2,488 benign) reduced to PE-header features; no malware is collected or run.</a:t>
            </a:r>
            <a:endParaRPr lang="en-US" sz="2100" dirty="0"/>
          </a:p>
          <a:p>
            <a:pPr algn="just" marL="342900" indent="-342900">
              <a:lnSpc>
                <a:spcPct val="105000"/>
              </a:lnSpc>
              <a:spcAft>
                <a:spcPts val="1200"/>
              </a:spcAft>
              <a:buSzPct val="100000"/>
              <a:buChar char="•"/>
            </a:pPr>
            <a:r>
              <a:rPr lang="en-US" sz="2100" dirty="0">
                <a:solidFill>
                  <a:schemeClr val="tx1"/>
                </a:solidFill>
              </a:rPr>
              <a:t>Features: raw DOS and file-header fields, 15 file characteristics bits, optional-header fields, 11 DllCharacteristics bits, section entropy and suspicious-section counts (67 in total).</a:t>
            </a:r>
            <a:endParaRPr lang="en-US" sz="2100" dirty="0"/>
          </a:p>
          <a:p>
            <a:pPr algn="just" marL="342900" indent="-342900">
              <a:lnSpc>
                <a:spcPct val="105000"/>
              </a:lnSpc>
              <a:spcAft>
                <a:spcPts val="1200"/>
              </a:spcAft>
              <a:buSzPct val="100000"/>
              <a:buChar char="•"/>
            </a:pPr>
            <a:r>
              <a:rPr lang="en-US" sz="2100" dirty="0">
                <a:solidFill>
                  <a:schemeClr val="tx1"/>
                </a:solidFill>
              </a:rPr>
              <a:t>Training: RandomForestClassifier on an 80/20 stratified split; the CI build fails if accuracy drops below 90%.</a:t>
            </a:r>
            <a:endParaRPr lang="en-US" sz="2100" dirty="0"/>
          </a:p>
          <a:p>
            <a:pPr algn="just" marL="342900" indent="-342900">
              <a:lnSpc>
                <a:spcPct val="105000"/>
              </a:lnSpc>
              <a:spcAft>
                <a:spcPts val="1200"/>
              </a:spcAft>
              <a:buSzPct val="100000"/>
              <a:buChar char="•"/>
            </a:pPr>
            <a:r>
              <a:rPr lang="en-US" sz="2100" dirty="0">
                <a:solidFill>
                  <a:schemeClr val="tx1"/>
                </a:solidFill>
              </a:rPr>
              <a:t>Inference: one PE parse per executable is shared by both ML layers and cached per path (functools.lru_cache).</a:t>
            </a:r>
            <a:endParaRPr lang="en-US" sz="2100" dirty="0"/>
          </a:p>
          <a:p>
            <a:pPr algn="just" marL="342900" indent="-342900">
              <a:lnSpc>
                <a:spcPct val="105000"/>
              </a:lnSpc>
              <a:spcAft>
                <a:spcPts val="1200"/>
              </a:spcAft>
              <a:buSzPct val="100000"/>
              <a:buChar char="•"/>
            </a:pPr>
            <a:r>
              <a:rPr lang="en-US" sz="2100" dirty="0">
                <a:solidFill>
                  <a:schemeClr val="tx1"/>
                </a:solidFill>
              </a:rPr>
              <a:t>The scanner and analyzer run in-process, so the model is loaded once instead of every cycle.</a:t>
            </a:r>
            <a:endParaRPr lang="en-US" sz="21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Implementation Details (3/3)</a:t>
            </a:r>
            <a:endParaRPr lang="en-US" sz="3800" dirty="0"/>
          </a:p>
        </p:txBody>
      </p:sp>
      <p:graphicFrame>
        <p:nvGraphicFramePr>
          <p:cNvPr id="18" name="ATT&amp;CK table"/>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4023360"/>
                <a:gridCol w="1828800"/>
                <a:gridCol w="5577840"/>
              </a:tblGrid>
              <a:tr h="384048">
                <a:tc>
                  <a:txBody>
                    <a:bodyPr/>
                    <a:lstStyle/>
                    <a:p>
                      <a:pPr indent="0" marL="0">
                        <a:buNone/>
                      </a:pPr>
                      <a:r>
                        <a:rPr lang="en-US" sz="1400" b="1" dirty="0">
                          <a:solidFill>
                            <a:schemeClr val="tx1"/>
                          </a:solidFill>
                        </a:rPr>
                        <a:t>API CATEGORY</a:t>
                      </a:r>
                      <a:endParaRPr lang="en-US" sz="1400" dirty="0"/>
                    </a:p>
                  </a:txBody>
                  <a:tcPr marL="91440" marR="91440"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ATT&amp;CK</a:t>
                      </a:r>
                      <a:endParaRPr lang="en-US" sz="1400" dirty="0"/>
                    </a:p>
                  </a:txBody>
                  <a:tcPr marL="91440" marR="91440"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EXAMPLE APIs</a:t>
                      </a:r>
                      <a:endParaRPr lang="en-US" sz="1400" dirty="0"/>
                    </a:p>
                  </a:txBody>
                  <a:tcPr marL="91440" marR="91440" marT="36576" marB="3657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Low-level keyboard hooks</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T1056.001</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SetWindowsHookExA/W, CallNextHookEx</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Key-state polling</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T1056.001</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GetAsyncKeyState, GetKeyState</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Raw input capture</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T1056.001</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RegisterRawInputDevices, GetRawInputData</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Foreground-window tracking</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T1056.001</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GetForegroundWindow, GetWindowTextW</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Screen capture</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T1113</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BitBlt, CreateCompatibleBitmap</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Clipboard capture</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T1115</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GetClipboardData, OpenClipboard</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Registry Run-key persistence</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T1547.001</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RegSetValueExW, RegCreateKeyExW</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Network exfiltration</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T1071.001</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InternetOpenW, HttpSendRequestW</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Debugger evasion</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T1622</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IsDebuggerPresent</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393192">
                <a:tc>
                  <a:txBody>
                    <a:bodyPr/>
                    <a:lstStyle/>
                    <a:p>
                      <a:pPr indent="0" marL="0">
                        <a:buNone/>
                      </a:pPr>
                      <a:r>
                        <a:rPr lang="en-US" sz="1400" dirty="0">
                          <a:solidFill>
                            <a:schemeClr val="tx1"/>
                          </a:solidFill>
                        </a:rPr>
                        <a:t>Sandbox evasion</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T1497</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GetTickCount, QueryPerformanceCounter</a:t>
                      </a:r>
                      <a:endParaRPr lang="en-US" sz="1400" dirty="0"/>
                    </a:p>
                  </a:txBody>
                  <a:tcPr marL="91440" marR="91440" marT="36576" marB="36576"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4" name="Caption"/>
          <p:cNvSpPr txBox="1"/>
          <p:nvPr/>
        </p:nvSpPr>
        <p:spPr>
          <a:xfrm>
            <a:off x="365760" y="5806440"/>
            <a:ext cx="11430000" cy="320040"/>
          </a:xfrm>
          <a:prstGeom prst="rect">
            <a:avLst/>
          </a:prstGeom>
          <a:noFill/>
          <a:ln/>
        </p:spPr>
        <p:txBody>
          <a:bodyPr wrap="square" lIns="0" tIns="0" rIns="0" bIns="0" rtlCol="0" anchor="t"/>
          <a:lstStyle/>
          <a:p>
            <a:pPr algn="ctr" indent="0" marL="0">
              <a:buNone/>
            </a:pPr>
            <a:r>
              <a:rPr lang="en-US" sz="1400" b="1" dirty="0">
                <a:solidFill>
                  <a:schemeClr val="tx2"/>
                </a:solidFill>
              </a:rPr>
              <a:t>Table 7.1: Keylogger API fingerprint categories mapped to MITRE ATT&amp;CK</a:t>
            </a:r>
            <a:endParaRPr lang="en-US" sz="14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Results and Discussion (1/8)</a:t>
            </a:r>
            <a:endParaRPr lang="en-US" sz="3800" dirty="0"/>
          </a:p>
        </p:txBody>
      </p:sp>
      <p:pic>
        <p:nvPicPr>
          <p:cNvPr id="3" name="Dashboard screenshot" descr="Web dashboard showing stat tiles and a sortable risk table (demo data)">    </p:cNvPr>
          <p:cNvPicPr>
            <a:picLocks noChangeAspect="1"/>
          </p:cNvPicPr>
          <p:nvPr/>
        </p:nvPicPr>
        <p:blipFill>
          <a:blip r:embed="rId1"/>
          <a:stretch>
            <a:fillRect/>
          </a:stretch>
        </p:blipFill>
        <p:spPr>
          <a:xfrm>
            <a:off x="2441448" y="1234440"/>
            <a:ext cx="7315200" cy="4572000"/>
          </a:xfrm>
          <a:prstGeom prst="rect">
            <a:avLst/>
          </a:prstGeom>
        </p:spPr>
      </p:pic>
      <p:sp>
        <p:nvSpPr>
          <p:cNvPr id="4" name="Caption"/>
          <p:cNvSpPr txBox="1"/>
          <p:nvPr/>
        </p:nvSpPr>
        <p:spPr>
          <a:xfrm>
            <a:off x="365760" y="5833872"/>
            <a:ext cx="11430000" cy="365760"/>
          </a:xfrm>
          <a:prstGeom prst="rect">
            <a:avLst/>
          </a:prstGeom>
          <a:noFill/>
          <a:ln/>
        </p:spPr>
        <p:txBody>
          <a:bodyPr wrap="square" lIns="0" tIns="0" rIns="0" bIns="0" rtlCol="0" anchor="t"/>
          <a:lstStyle/>
          <a:p>
            <a:pPr algn="ctr" indent="0" marL="0">
              <a:buNone/>
            </a:pPr>
            <a:r>
              <a:rPr lang="en-US" sz="1600" b="1" dirty="0">
                <a:solidFill>
                  <a:schemeClr val="tx2"/>
                </a:solidFill>
              </a:rPr>
              <a:t>Figure 8.1: Risk dashboard (demo data)</a:t>
            </a:r>
            <a:endParaRPr lang="en-US" sz="16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Results and Discussion (2/8)</a:t>
            </a:r>
            <a:endParaRPr lang="en-US" sz="3800" dirty="0"/>
          </a:p>
        </p:txBody>
      </p:sp>
      <p:graphicFrame>
        <p:nvGraphicFramePr>
          <p:cNvPr id="20" name="Risk report table"/>
          <p:cNvGraphicFramePr>
            <a:graphicFrameLocks noGrp="1"/>
          </p:cNvGraphicFramePr>
          <p:nvPr>
            <p:extLst>
              <p:ext uri="{D42A27DB-BD31-4B8C-83A1-F6EECF244321}">
                <p14:modId xmlns:p14="http://schemas.microsoft.com/office/powerpoint/2010/main" val="1579011935"/>
              </p:ext>
            </p:extLst>
          </p:nvPr>
        </p:nvGraphicFramePr>
        <p:xfrm>
          <a:off x="365760" y="1325880"/>
          <a:ext cx="11430000" cy="914400"/>
        </p:xfrm>
        <a:graphic>
          <a:graphicData uri="http://schemas.openxmlformats.org/drawingml/2006/table">
            <a:tbl>
              <a:tblPr/>
              <a:tblGrid>
                <a:gridCol w="1097280"/>
                <a:gridCol w="1097280"/>
                <a:gridCol w="1371600"/>
                <a:gridCol w="1828800"/>
                <a:gridCol w="3108960"/>
                <a:gridCol w="2926080"/>
              </a:tblGrid>
              <a:tr h="640080">
                <a:tc>
                  <a:txBody>
                    <a:bodyPr/>
                    <a:lstStyle/>
                    <a:p>
                      <a:pPr indent="0" marL="0">
                        <a:buNone/>
                      </a:pPr>
                      <a:r>
                        <a:rPr lang="en-US" sz="1600" b="1" dirty="0">
                          <a:solidFill>
                            <a:schemeClr val="tx1"/>
                          </a:solidFill>
                        </a:rPr>
                        <a:t>RISK</a:t>
                      </a:r>
                      <a:endParaRPr lang="en-US" sz="16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SCORE</a:t>
                      </a:r>
                      <a:endParaRPr lang="en-US" sz="16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MALWARE ML</a:t>
                      </a:r>
                      <a:endParaRPr lang="en-US" sz="16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KEYLOGGER API</a:t>
                      </a:r>
                      <a:endParaRPr lang="en-US" sz="16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ATT&amp;CK SIGNALS</a:t>
                      </a:r>
                      <a:endParaRPr lang="en-US" sz="16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EXECUTABLE</a:t>
                      </a:r>
                      <a:endParaRPr lang="en-US" sz="16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40080">
                <a:tc>
                  <a:txBody>
                    <a:bodyPr/>
                    <a:lstStyle/>
                    <a:p>
                      <a:pPr indent="0" marL="0">
                        <a:buNone/>
                      </a:pPr>
                      <a:r>
                        <a:rPr lang="en-US" sz="1600" b="1" dirty="0">
                          <a:solidFill>
                            <a:schemeClr val="accent3"/>
                          </a:solidFill>
                        </a:rPr>
                        <a:t>HIGH</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118</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95%</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62%</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SetWindowsHookExW, GetAsyncKeyState, …</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…\Temp\updater_svc.exe</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40080">
                <a:tc>
                  <a:txBody>
                    <a:bodyPr/>
                    <a:lstStyle/>
                    <a:p>
                      <a:pPr indent="0" marL="0">
                        <a:buNone/>
                      </a:pPr>
                      <a:r>
                        <a:rPr lang="en-US" sz="1600" b="1" dirty="0">
                          <a:solidFill>
                            <a:schemeClr val="accent3"/>
                          </a:solidFill>
                        </a:rPr>
                        <a:t>HIGH</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64</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71%</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48%</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SetWindowsHookExW, GetAsyncKeyState</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…\Downloads\hotkey_helper.exe</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40080">
                <a:tc>
                  <a:txBody>
                    <a:bodyPr/>
                    <a:lstStyle/>
                    <a:p>
                      <a:pPr indent="0" marL="0">
                        <a:buNone/>
                      </a:pPr>
                      <a:r>
                        <a:rPr lang="en-US" sz="1600" b="1" dirty="0">
                          <a:solidFill>
                            <a:schemeClr val="accent4"/>
                          </a:solidFill>
                        </a:rPr>
                        <a:t>MEDIUM</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33%</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40%</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BitBlt, GetClipboardData</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…\Capture\screenrec.exe</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40080">
                <a:tc>
                  <a:txBody>
                    <a:bodyPr/>
                    <a:lstStyle/>
                    <a:p>
                      <a:pPr indent="0" marL="0">
                        <a:buNone/>
                      </a:pPr>
                      <a:r>
                        <a:rPr lang="en-US" sz="1600" b="1" dirty="0">
                          <a:solidFill>
                            <a:schemeClr val="accent1"/>
                          </a:solidFill>
                        </a:rPr>
                        <a:t>LOW</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22</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40%</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15%</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GetAsyncKeyState</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C:\Tools\macro_pad.exe</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40080">
                <a:tc>
                  <a:txBody>
                    <a:bodyPr/>
                    <a:lstStyle/>
                    <a:p>
                      <a:pPr indent="0" marL="0">
                        <a:buNone/>
                      </a:pPr>
                      <a:r>
                        <a:rPr lang="en-US" sz="1600" b="1" dirty="0">
                          <a:solidFill>
                            <a:schemeClr val="accent1"/>
                          </a:solidFill>
                        </a:rPr>
                        <a:t>LOW</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11</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…\App\notes_app.exe</a:t>
                      </a:r>
                      <a:endParaRPr lang="en-US" sz="16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4" name="Report summary"/>
          <p:cNvSpPr txBox="1"/>
          <p:nvPr/>
        </p:nvSpPr>
        <p:spPr>
          <a:xfrm>
            <a:off x="365760" y="5394960"/>
            <a:ext cx="11430000" cy="320040"/>
          </a:xfrm>
          <a:prstGeom prst="rect">
            <a:avLst/>
          </a:prstGeom>
          <a:noFill/>
          <a:ln/>
        </p:spPr>
        <p:txBody>
          <a:bodyPr wrap="square" lIns="0" tIns="0" rIns="0" bIns="0" rtlCol="0" anchor="t"/>
          <a:lstStyle/>
          <a:p>
            <a:pPr indent="0" marL="0">
              <a:buNone/>
            </a:pPr>
            <a:r>
              <a:rPr lang="en-US" sz="1800" dirty="0">
                <a:solidFill>
                  <a:schemeClr val="tx1"/>
                </a:solidFill>
              </a:rPr>
              <a:t>The report ends with a summary line: 5 process(es) tracked, 2 HIGH, 1 MEDIUM.</a:t>
            </a:r>
            <a:endParaRPr lang="en-US" sz="1800" dirty="0"/>
          </a:p>
        </p:txBody>
      </p:sp>
      <p:sp>
        <p:nvSpPr>
          <p:cNvPr id="5" name="Caption"/>
          <p:cNvSpPr txBox="1"/>
          <p:nvPr/>
        </p:nvSpPr>
        <p:spPr>
          <a:xfrm>
            <a:off x="365760" y="5760720"/>
            <a:ext cx="11430000" cy="365760"/>
          </a:xfrm>
          <a:prstGeom prst="rect">
            <a:avLst/>
          </a:prstGeom>
          <a:noFill/>
          <a:ln/>
        </p:spPr>
        <p:txBody>
          <a:bodyPr wrap="square" lIns="0" tIns="0" rIns="0" bIns="0" rtlCol="0" anchor="t"/>
          <a:lstStyle/>
          <a:p>
            <a:pPr algn="ctr" indent="0" marL="0">
              <a:buNone/>
            </a:pPr>
            <a:r>
              <a:rPr lang="en-US" sz="1600" b="1" dirty="0">
                <a:solidFill>
                  <a:schemeClr val="tx2"/>
                </a:solidFill>
              </a:rPr>
              <a:t>Table 8.1: Risk report from python -m scanner.report (demo data)</a:t>
            </a:r>
            <a:endParaRPr lang="en-US" sz="16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Results and Discussion (3/8)</a:t>
            </a:r>
            <a:endParaRPr lang="en-US" sz="3800" dirty="0"/>
          </a:p>
        </p:txBody>
      </p:sp>
      <p:pic>
        <p:nvPicPr>
          <p:cNvPr id="3" name="Training output" descr="Console output of train_model.py showing accuracy and classification report">    </p:cNvPr>
          <p:cNvPicPr>
            <a:picLocks noChangeAspect="1"/>
          </p:cNvPicPr>
          <p:nvPr/>
        </p:nvPicPr>
        <p:blipFill>
          <a:blip r:embed="rId1"/>
          <a:stretch>
            <a:fillRect/>
          </a:stretch>
        </p:blipFill>
        <p:spPr>
          <a:xfrm>
            <a:off x="3200400" y="1280160"/>
            <a:ext cx="5760720" cy="4114800"/>
          </a:xfrm>
          <a:prstGeom prst="rect">
            <a:avLst/>
          </a:prstGeom>
        </p:spPr>
      </p:pic>
      <p:sp>
        <p:nvSpPr>
          <p:cNvPr id="4" name="Caption"/>
          <p:cNvSpPr txBox="1"/>
          <p:nvPr/>
        </p:nvSpPr>
        <p:spPr>
          <a:xfrm>
            <a:off x="365760" y="5577840"/>
            <a:ext cx="11430000" cy="365760"/>
          </a:xfrm>
          <a:prstGeom prst="rect">
            <a:avLst/>
          </a:prstGeom>
          <a:noFill/>
          <a:ln/>
        </p:spPr>
        <p:txBody>
          <a:bodyPr wrap="square" lIns="0" tIns="0" rIns="0" bIns="0" rtlCol="0" anchor="t"/>
          <a:lstStyle/>
          <a:p>
            <a:pPr algn="ctr" indent="0" marL="0">
              <a:buNone/>
            </a:pPr>
            <a:r>
              <a:rPr lang="en-US" sz="1600" b="1" dirty="0">
                <a:solidFill>
                  <a:schemeClr val="tx2"/>
                </a:solidFill>
              </a:rPr>
              <a:t>Figure 8.2: Output of train_model.py on the ClaMP dataset</a:t>
            </a:r>
            <a:endParaRPr lang="en-US" sz="16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Results and Discussion (4/8)</a:t>
            </a:r>
            <a:endParaRPr lang="en-US" sz="3800" dirty="0"/>
          </a:p>
        </p:txBody>
      </p:sp>
      <p:graphicFrame>
        <p:nvGraphicFramePr>
          <p:cNvPr id="22" name="Classification report table"/>
          <p:cNvGraphicFramePr>
            <a:graphicFrameLocks noGrp="1"/>
          </p:cNvGraphicFramePr>
          <p:nvPr>
            <p:extLst>
              <p:ext uri="{D42A27DB-BD31-4B8C-83A1-F6EECF244321}">
                <p14:modId xmlns:p14="http://schemas.microsoft.com/office/powerpoint/2010/main" val="1579011935"/>
              </p:ext>
            </p:extLst>
          </p:nvPr>
        </p:nvGraphicFramePr>
        <p:xfrm>
          <a:off x="365760" y="1417320"/>
          <a:ext cx="6949440" cy="914400"/>
        </p:xfrm>
        <a:graphic>
          <a:graphicData uri="http://schemas.openxmlformats.org/drawingml/2006/table">
            <a:tbl>
              <a:tblPr/>
              <a:tblGrid>
                <a:gridCol w="1371600"/>
                <a:gridCol w="1645920"/>
                <a:gridCol w="1188720"/>
                <a:gridCol w="1371600"/>
                <a:gridCol w="1371600"/>
              </a:tblGrid>
              <a:tr h="640080">
                <a:tc>
                  <a:txBody>
                    <a:bodyPr/>
                    <a:lstStyle/>
                    <a:p>
                      <a:pPr indent="0" marL="0">
                        <a:buNone/>
                      </a:pPr>
                      <a:r>
                        <a:rPr lang="en-US" sz="1800" b="1" dirty="0">
                          <a:solidFill>
                            <a:schemeClr val="tx1"/>
                          </a:solidFill>
                        </a:rPr>
                        <a:t>CLASS</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PRECISION</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RECALL</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F1-SCORE</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SUPPORT</a:t>
                      </a:r>
                      <a:endParaRPr lang="en-US" sz="1800" dirty="0"/>
                    </a:p>
                  </a:txBody>
                  <a:tcPr marL="91440" marR="91440"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40080">
                <a:tc>
                  <a:txBody>
                    <a:bodyPr/>
                    <a:lstStyle/>
                    <a:p>
                      <a:pPr indent="0" marL="0">
                        <a:buNone/>
                      </a:pPr>
                      <a:r>
                        <a:rPr lang="en-US" sz="1800" dirty="0">
                          <a:solidFill>
                            <a:schemeClr val="tx1"/>
                          </a:solidFill>
                        </a:rPr>
                        <a:t>Benign</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0.99</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0.99</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0.99</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498</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40080">
                <a:tc>
                  <a:txBody>
                    <a:bodyPr/>
                    <a:lstStyle/>
                    <a:p>
                      <a:pPr indent="0" marL="0">
                        <a:buNone/>
                      </a:pPr>
                      <a:r>
                        <a:rPr lang="en-US" sz="1800" dirty="0">
                          <a:solidFill>
                            <a:schemeClr val="tx1"/>
                          </a:solidFill>
                        </a:rPr>
                        <a:t>Malware</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0.99</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0.99</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0.99</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544</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640080">
                <a:tc>
                  <a:txBody>
                    <a:bodyPr/>
                    <a:lstStyle/>
                    <a:p>
                      <a:pPr indent="0" marL="0">
                        <a:buNone/>
                      </a:pPr>
                      <a:r>
                        <a:rPr lang="en-US" sz="1800" b="1" dirty="0">
                          <a:solidFill>
                            <a:schemeClr val="tx1"/>
                          </a:solidFill>
                        </a:rPr>
                        <a:t>Accuracy</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0.99</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1042</a:t>
                      </a:r>
                      <a:endParaRPr lang="en-US" sz="1800" dirty="0"/>
                    </a:p>
                  </a:txBody>
                  <a:tcPr marL="91440" marR="91440"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4" name="Caption 8.2"/>
          <p:cNvSpPr txBox="1"/>
          <p:nvPr/>
        </p:nvSpPr>
        <p:spPr>
          <a:xfrm>
            <a:off x="365760" y="4069080"/>
            <a:ext cx="6949440" cy="320040"/>
          </a:xfrm>
          <a:prstGeom prst="rect">
            <a:avLst/>
          </a:prstGeom>
          <a:noFill/>
          <a:ln/>
        </p:spPr>
        <p:txBody>
          <a:bodyPr wrap="square" lIns="0" tIns="0" rIns="0" bIns="0" rtlCol="0" anchor="t"/>
          <a:lstStyle/>
          <a:p>
            <a:pPr algn="ctr" indent="0" marL="0">
              <a:buNone/>
            </a:pPr>
            <a:r>
              <a:rPr lang="en-US" sz="1600" b="1" dirty="0">
                <a:solidFill>
                  <a:schemeClr val="tx2"/>
                </a:solidFill>
              </a:rPr>
              <a:t>Table 8.2: Classification report</a:t>
            </a:r>
            <a:endParaRPr lang="en-US" sz="1600" dirty="0"/>
          </a:p>
        </p:txBody>
      </p:sp>
      <p:graphicFrame>
        <p:nvGraphicFramePr>
          <p:cNvPr id="43" name="Confusion matrix table"/>
          <p:cNvGraphicFramePr>
            <a:graphicFrameLocks noGrp="1"/>
          </p:cNvGraphicFramePr>
          <p:nvPr>
            <p:extLst>
              <p:ext uri="{D42A27DB-BD31-4B8C-83A1-F6EECF244321}">
                <p14:modId xmlns:p14="http://schemas.microsoft.com/office/powerpoint/2010/main" val="1579011935"/>
              </p:ext>
            </p:extLst>
          </p:nvPr>
        </p:nvGraphicFramePr>
        <p:xfrm>
          <a:off x="7680960" y="1417320"/>
          <a:ext cx="4114800" cy="914400"/>
        </p:xfrm>
        <a:graphic>
          <a:graphicData uri="http://schemas.openxmlformats.org/drawingml/2006/table">
            <a:tbl>
              <a:tblPr/>
              <a:tblGrid>
                <a:gridCol w="1371600"/>
                <a:gridCol w="1371600"/>
                <a:gridCol w="1371600"/>
              </a:tblGrid>
              <a:tr h="640080">
                <a:tc>
                  <a:txBody>
                    <a:bodyPr/>
                    <a:lstStyle/>
                    <a:p>
                      <a:pPr indent="0" marL="0">
                        <a:buNone/>
                      </a:pPr>
                      <a:endParaRPr lang="en-US" sz="18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PRED. BENIGN</a:t>
                      </a:r>
                      <a:endParaRPr lang="en-US" sz="18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b="1" dirty="0">
                          <a:solidFill>
                            <a:schemeClr val="tx1"/>
                          </a:solidFill>
                        </a:rPr>
                        <a:t>PRED. MALWARE</a:t>
                      </a:r>
                      <a:endParaRPr lang="en-US" sz="1800" dirty="0"/>
                    </a:p>
                  </a:txBody>
                  <a:tcPr marL="73152" marR="73152" marT="45720" marB="4572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868680">
                <a:tc>
                  <a:txBody>
                    <a:bodyPr/>
                    <a:lstStyle/>
                    <a:p>
                      <a:pPr indent="0" marL="0">
                        <a:buNone/>
                      </a:pPr>
                      <a:r>
                        <a:rPr lang="en-US" sz="1800" b="1" dirty="0">
                          <a:solidFill>
                            <a:schemeClr val="tx1"/>
                          </a:solidFill>
                        </a:rPr>
                        <a:t>Actual benign</a:t>
                      </a:r>
                      <a:endParaRPr lang="en-US" sz="18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491</a:t>
                      </a:r>
                      <a:endParaRPr lang="en-US" sz="18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7</a:t>
                      </a:r>
                      <a:endParaRPr lang="en-US" sz="18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868680">
                <a:tc>
                  <a:txBody>
                    <a:bodyPr/>
                    <a:lstStyle/>
                    <a:p>
                      <a:pPr indent="0" marL="0">
                        <a:buNone/>
                      </a:pPr>
                      <a:r>
                        <a:rPr lang="en-US" sz="1800" b="1" dirty="0">
                          <a:solidFill>
                            <a:schemeClr val="tx1"/>
                          </a:solidFill>
                        </a:rPr>
                        <a:t>Actual malware</a:t>
                      </a:r>
                      <a:endParaRPr lang="en-US" sz="18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3</a:t>
                      </a:r>
                      <a:endParaRPr lang="en-US" sz="18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indent="0" marL="0">
                        <a:buNone/>
                      </a:pPr>
                      <a:r>
                        <a:rPr lang="en-US" sz="1800" dirty="0">
                          <a:solidFill>
                            <a:schemeClr val="tx1"/>
                          </a:solidFill>
                        </a:rPr>
                        <a:t>541</a:t>
                      </a:r>
                      <a:endParaRPr lang="en-US" sz="1800" dirty="0"/>
                    </a:p>
                  </a:txBody>
                  <a:tcPr marL="73152" marR="73152" marT="45720" marB="45720" anchor="t">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6" name="Caption 8.3"/>
          <p:cNvSpPr txBox="1"/>
          <p:nvPr/>
        </p:nvSpPr>
        <p:spPr>
          <a:xfrm>
            <a:off x="7680960" y="4069080"/>
            <a:ext cx="4114800" cy="320040"/>
          </a:xfrm>
          <a:prstGeom prst="rect">
            <a:avLst/>
          </a:prstGeom>
          <a:noFill/>
          <a:ln/>
        </p:spPr>
        <p:txBody>
          <a:bodyPr wrap="square" lIns="0" tIns="0" rIns="0" bIns="0" rtlCol="0" anchor="t"/>
          <a:lstStyle/>
          <a:p>
            <a:pPr algn="ctr" indent="0" marL="0">
              <a:buNone/>
            </a:pPr>
            <a:r>
              <a:rPr lang="en-US" sz="1600" b="1" dirty="0">
                <a:solidFill>
                  <a:schemeClr val="tx2"/>
                </a:solidFill>
              </a:rPr>
              <a:t>Table 8.3: Confusion matrix</a:t>
            </a:r>
            <a:endParaRPr lang="en-US" sz="1600" dirty="0"/>
          </a:p>
        </p:txBody>
      </p:sp>
      <p:sp>
        <p:nvSpPr>
          <p:cNvPr id="7" name="Accuracy note"/>
          <p:cNvSpPr txBox="1"/>
          <p:nvPr/>
        </p:nvSpPr>
        <p:spPr>
          <a:xfrm>
            <a:off x="365760" y="4754880"/>
            <a:ext cx="11430000" cy="1188720"/>
          </a:xfrm>
          <a:prstGeom prst="rect">
            <a:avLst/>
          </a:prstGeom>
          <a:noFill/>
          <a:ln/>
        </p:spPr>
        <p:txBody>
          <a:bodyPr wrap="square" lIns="0" tIns="0" rIns="0" bIns="0" rtlCol="0" anchor="t"/>
          <a:lstStyle/>
          <a:p>
            <a:pPr algn="just" indent="0" marL="0">
              <a:buNone/>
            </a:pPr>
            <a:r>
              <a:rPr lang="en-US" sz="2200" dirty="0">
                <a:solidFill>
                  <a:schemeClr val="tx1"/>
                </a:solidFill>
              </a:rPr>
              <a:t>Overall accuracy is 0.9904 on 1,042 held-out samples (80/20 stratified split): 10 misclassified, of which 7 are false alarms and 3 are misses.</a:t>
            </a:r>
            <a:endParaRPr lang="en-US" sz="22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Results and Discussion (5/8)</a:t>
            </a:r>
            <a:endParaRPr lang="en-US" sz="3800" dirty="0"/>
          </a:p>
        </p:txBody>
      </p:sp>
      <p:graphicFrame>
        <p:nvGraphicFramePr>
          <p:cNvPr id="3" name="Chart 0" descr=""/>
          <p:cNvGraphicFramePr/>
          <p:nvPr/>
        </p:nvGraphicFramePr>
        <p:xfrm>
          <a:off x="1097280" y="1280160"/>
          <a:ext cx="9966960" cy="4297680"/>
        </p:xfrm>
        <a:graphic xmlns:a="http://schemas.openxmlformats.org/drawingml/2006/main">
          <a:graphicData uri="http://schemas.openxmlformats.org/drawingml/2006/chart">
            <c:chart xmlns:c="http://schemas.openxmlformats.org/drawingml/2006/chart" r:id="rId1"/>
          </a:graphicData>
        </a:graphic>
      </p:graphicFrame>
      <p:sp>
        <p:nvSpPr>
          <p:cNvPr id="4" name="Caption"/>
          <p:cNvSpPr txBox="1"/>
          <p:nvPr/>
        </p:nvSpPr>
        <p:spPr>
          <a:xfrm>
            <a:off x="365760" y="5715000"/>
            <a:ext cx="11430000" cy="365760"/>
          </a:xfrm>
          <a:prstGeom prst="rect">
            <a:avLst/>
          </a:prstGeom>
          <a:noFill/>
          <a:ln/>
        </p:spPr>
        <p:txBody>
          <a:bodyPr wrap="square" lIns="0" tIns="0" rIns="0" bIns="0" rtlCol="0" anchor="t"/>
          <a:lstStyle/>
          <a:p>
            <a:pPr algn="ctr" indent="0" marL="0">
              <a:buNone/>
            </a:pPr>
            <a:r>
              <a:rPr lang="en-US" sz="1600" b="1" dirty="0">
                <a:solidFill>
                  <a:schemeClr val="tx2"/>
                </a:solidFill>
              </a:rPr>
              <a:t>Figure 8.3: Top 8 feature importances of the RandomForest model</a:t>
            </a:r>
            <a:endParaRPr lang="en-US" sz="16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Results and Discussion (6/8)</a:t>
            </a:r>
            <a:endParaRPr lang="en-US" sz="3800" dirty="0"/>
          </a:p>
        </p:txBody>
      </p:sp>
      <p:graphicFrame>
        <p:nvGraphicFramePr>
          <p:cNvPr id="3" name="Chart 0" descr=""/>
          <p:cNvGraphicFramePr/>
          <p:nvPr/>
        </p:nvGraphicFramePr>
        <p:xfrm>
          <a:off x="914400" y="1234440"/>
          <a:ext cx="10332720" cy="4343400"/>
        </p:xfrm>
        <a:graphic xmlns:a="http://schemas.openxmlformats.org/drawingml/2006/main">
          <a:graphicData uri="http://schemas.openxmlformats.org/drawingml/2006/chart">
            <c:chart xmlns:c="http://schemas.openxmlformats.org/drawingml/2006/chart" r:id="rId1"/>
          </a:graphicData>
        </a:graphic>
      </p:graphicFrame>
      <p:sp>
        <p:nvSpPr>
          <p:cNvPr id="4" name="Caption"/>
          <p:cNvSpPr txBox="1"/>
          <p:nvPr/>
        </p:nvSpPr>
        <p:spPr>
          <a:xfrm>
            <a:off x="365760" y="5715000"/>
            <a:ext cx="11430000" cy="365760"/>
          </a:xfrm>
          <a:prstGeom prst="rect">
            <a:avLst/>
          </a:prstGeom>
          <a:noFill/>
          <a:ln/>
        </p:spPr>
        <p:txBody>
          <a:bodyPr wrap="square" lIns="0" tIns="0" rIns="0" bIns="0" rtlCol="0" anchor="t"/>
          <a:lstStyle/>
          <a:p>
            <a:pPr algn="ctr" indent="0" marL="0">
              <a:buNone/>
            </a:pPr>
            <a:r>
              <a:rPr lang="en-US" sz="1600" b="1" dirty="0">
                <a:solidFill>
                  <a:schemeClr val="tx2"/>
                </a:solidFill>
              </a:rPr>
              <a:t>Figure 8.4: Risk score over time (simulated with the project's risk engine; ML 0.9, API 0.55)</a:t>
            </a:r>
            <a:endParaRPr lang="en-US" sz="16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Results and Discussion (7/8)</a:t>
            </a:r>
            <a:endParaRPr lang="en-US" sz="3800" dirty="0"/>
          </a:p>
        </p:txBody>
      </p:sp>
      <p:sp>
        <p:nvSpPr>
          <p:cNvPr id="3" name="Text 1"/>
          <p:cNvSpPr txBox="1"/>
          <p:nvPr/>
        </p:nvSpPr>
        <p:spPr>
          <a:xfrm>
            <a:off x="822960" y="1554480"/>
            <a:ext cx="10607040" cy="4480560"/>
          </a:xfrm>
          <a:prstGeom prst="rect">
            <a:avLst/>
          </a:prstGeom>
          <a:noFill/>
          <a:ln/>
        </p:spPr>
        <p:txBody>
          <a:bodyPr wrap="square" lIns="0" tIns="0" rIns="0" bIns="0" rtlCol="0" anchor="t"/>
          <a:lstStyle/>
          <a:p>
            <a:pPr algn="just" marL="342900" indent="-342900">
              <a:lnSpc>
                <a:spcPct val="105000"/>
              </a:lnSpc>
              <a:spcAft>
                <a:spcPts val="1200"/>
              </a:spcAft>
              <a:buSzPct val="100000"/>
              <a:buChar char="•"/>
            </a:pPr>
            <a:r>
              <a:rPr lang="en-US" sz="2200" dirty="0">
                <a:solidFill>
                  <a:schemeClr val="tx1"/>
                </a:solidFill>
              </a:rPr>
              <a:t>Malware ML layer: 99.04% held-out accuracy on ClaMP. This measures general malware detection on a public dataset, not live keylogger detection.</a:t>
            </a:r>
            <a:endParaRPr lang="en-US" sz="2200" dirty="0"/>
          </a:p>
          <a:p>
            <a:pPr algn="just" marL="342900" indent="-342900">
              <a:lnSpc>
                <a:spcPct val="105000"/>
              </a:lnSpc>
              <a:spcAft>
                <a:spcPts val="1200"/>
              </a:spcAft>
              <a:buSzPct val="100000"/>
              <a:buChar char="•"/>
            </a:pPr>
            <a:r>
              <a:rPr lang="en-US" sz="2200" dirty="0">
                <a:solidFill>
                  <a:schemeClr val="tx1"/>
                </a:solidFill>
              </a:rPr>
              <a:t>Speed: scoring one new executable takes about 75 ms, a repeat of the same path under 1 ms (cache), and the model is loaded once (about 1 s) at startup.</a:t>
            </a:r>
            <a:endParaRPr lang="en-US" sz="2200" dirty="0"/>
          </a:p>
          <a:p>
            <a:pPr algn="just" marL="342900" indent="-342900">
              <a:lnSpc>
                <a:spcPct val="105000"/>
              </a:lnSpc>
              <a:spcAft>
                <a:spcPts val="1200"/>
              </a:spcAft>
              <a:buSzPct val="100000"/>
              <a:buChar char="•"/>
            </a:pPr>
            <a:r>
              <a:rPr lang="en-US" sz="2200" dirty="0">
                <a:solidFill>
                  <a:schemeClr val="tx1"/>
                </a:solidFill>
              </a:rPr>
              <a:t>A real run flagged a GPU-vendor overlay (hotkey and recording) at a score of 536, because such software legitimately uses the same APIs as a keylogger.</a:t>
            </a:r>
            <a:endParaRPr lang="en-US" sz="2200" dirty="0"/>
          </a:p>
          <a:p>
            <a:pPr algn="just" marL="342900" indent="-342900">
              <a:lnSpc>
                <a:spcPct val="105000"/>
              </a:lnSpc>
              <a:spcAft>
                <a:spcPts val="1200"/>
              </a:spcAft>
              <a:buSzPct val="100000"/>
              <a:buChar char="•"/>
            </a:pPr>
            <a:r>
              <a:rPr lang="en-US" sz="2200" dirty="0">
                <a:solidFill>
                  <a:schemeClr val="tx1"/>
                </a:solidFill>
              </a:rPr>
              <a:t>Fix: recalibrated API weights, halved the ML bonus scales (20 to 10, 25 to 12) and capped the score at 150. The same scenario now peaks at 145 and returns to LOW in about 15 cycles.</a:t>
            </a:r>
            <a:endParaRPr lang="en-US" sz="22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Results and Discussion (8/8)</a:t>
            </a:r>
            <a:endParaRPr lang="en-US" sz="3800" dirty="0"/>
          </a:p>
        </p:txBody>
      </p:sp>
      <p:sp>
        <p:nvSpPr>
          <p:cNvPr id="3" name="Text 1"/>
          <p:cNvSpPr txBox="1"/>
          <p:nvPr/>
        </p:nvSpPr>
        <p:spPr>
          <a:xfrm>
            <a:off x="822960" y="1554480"/>
            <a:ext cx="10607040" cy="4480560"/>
          </a:xfrm>
          <a:prstGeom prst="rect">
            <a:avLst/>
          </a:prstGeom>
          <a:noFill/>
          <a:ln/>
        </p:spPr>
        <p:txBody>
          <a:bodyPr wrap="square" lIns="0" tIns="0" rIns="0" bIns="0" rtlCol="0" anchor="t"/>
          <a:lstStyle/>
          <a:p>
            <a:pPr algn="just" marL="342900" indent="-342900">
              <a:lnSpc>
                <a:spcPct val="105000"/>
              </a:lnSpc>
              <a:spcAft>
                <a:spcPts val="1200"/>
              </a:spcAft>
              <a:buSzPct val="100000"/>
              <a:buChar char="•"/>
            </a:pPr>
            <a:r>
              <a:rPr lang="en-US" sz="2200" dirty="0">
                <a:solidFill>
                  <a:schemeClr val="tx1"/>
                </a:solidFill>
              </a:rPr>
              <a:t>Testing: 20 tests pass and 5 Windows-only tests are skipped on Linux; the Windows-only suite runs on a Windows CI runner.</a:t>
            </a:r>
            <a:endParaRPr lang="en-US" sz="2200" dirty="0"/>
          </a:p>
          <a:p>
            <a:pPr algn="just" marL="342900" indent="-342900">
              <a:lnSpc>
                <a:spcPct val="105000"/>
              </a:lnSpc>
              <a:spcAft>
                <a:spcPts val="1200"/>
              </a:spcAft>
              <a:buSzPct val="100000"/>
              <a:buChar char="•"/>
            </a:pPr>
            <a:r>
              <a:rPr lang="en-US" sz="2200" dirty="0">
                <a:solidFill>
                  <a:schemeClr val="tx1"/>
                </a:solidFill>
              </a:rPr>
              <a:t>Limitation: static capability evidence cannot separate a legitimate overlay from a keylogger, so trusted software is handled by an allowlist and gating.</a:t>
            </a:r>
            <a:endParaRPr lang="en-US" sz="2200" dirty="0"/>
          </a:p>
          <a:p>
            <a:pPr algn="just" marL="342900" indent="-342900">
              <a:lnSpc>
                <a:spcPct val="105000"/>
              </a:lnSpc>
              <a:spcAft>
                <a:spcPts val="1200"/>
              </a:spcAft>
              <a:buSzPct val="100000"/>
              <a:buChar char="•"/>
            </a:pPr>
            <a:r>
              <a:rPr lang="en-US" sz="2200" dirty="0">
                <a:solidFill>
                  <a:schemeClr val="tx1"/>
                </a:solidFill>
              </a:rPr>
              <a:t>Limitation: the keylogger layer is a rule engine rather than a trained model, because no public labeled keylogger dataset exists; live monitoring is Windows-only.</a:t>
            </a:r>
            <a:endParaRPr lang="en-US" sz="2200" dirty="0"/>
          </a:p>
          <a:p>
            <a:pPr algn="just" marL="342900" indent="-342900">
              <a:lnSpc>
                <a:spcPct val="105000"/>
              </a:lnSpc>
              <a:spcAft>
                <a:spcPts val="1200"/>
              </a:spcAft>
              <a:buSzPct val="100000"/>
              <a:buChar char="•"/>
            </a:pPr>
            <a:r>
              <a:rPr lang="en-US" sz="2200" dirty="0">
                <a:solidFill>
                  <a:schemeClr val="tx1"/>
                </a:solidFill>
              </a:rPr>
              <a:t>Future work: publisher-based trust instead of a name-only allowlist, alert and log export, and testing against more benign overlay and macro applications.</a:t>
            </a:r>
            <a:endParaRPr lang="en-US" sz="22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References (1/3)</a:t>
            </a:r>
            <a:endParaRPr lang="en-US" sz="3800" dirty="0"/>
          </a:p>
        </p:txBody>
      </p:sp>
      <p:sp>
        <p:nvSpPr>
          <p:cNvPr id="3" name="Reference list"/>
          <p:cNvSpPr txBox="1"/>
          <p:nvPr/>
        </p:nvSpPr>
        <p:spPr>
          <a:xfrm>
            <a:off x="457200" y="1371600"/>
            <a:ext cx="11247120" cy="4663440"/>
          </a:xfrm>
          <a:prstGeom prst="rect">
            <a:avLst/>
          </a:prstGeom>
          <a:noFill/>
          <a:ln/>
        </p:spPr>
        <p:txBody>
          <a:bodyPr wrap="square" lIns="0" tIns="0" rIns="0" bIns="0" rtlCol="0" anchor="t"/>
          <a:lstStyle/>
          <a:p>
            <a:pPr algn="l" indent="0" marL="0">
              <a:spcAft>
                <a:spcPts val="1000"/>
              </a:spcAft>
              <a:buNone/>
            </a:pPr>
            <a:r>
              <a:rPr lang="en-US" sz="1900" dirty="0">
                <a:solidFill>
                  <a:schemeClr val="tx1"/>
                </a:solidFill>
              </a:rPr>
              <a:t>[1] Ortolani, S., Giuffrida, C., &amp; Crispo, B. (2010). Bait your hook: a novel detection technique for keyloggers. Recent Advances in Intrusion Detection (RAID 2010), Springer.</a:t>
            </a:r>
            <a:endParaRPr lang="en-US" sz="1900" dirty="0"/>
          </a:p>
          <a:p>
            <a:pPr algn="l" indent="0" marL="0">
              <a:spcAft>
                <a:spcPts val="1000"/>
              </a:spcAft>
              <a:buNone/>
            </a:pPr>
            <a:r>
              <a:rPr lang="en-US" sz="1900" dirty="0">
                <a:solidFill>
                  <a:schemeClr val="tx1"/>
                </a:solidFill>
              </a:rPr>
              <a:t>[2] Ortolani, S., Giuffrida, C., &amp; Crispo, B. (2011). KLIMAX: profiling memory write patterns to detect keystroke-harvesting malware. Recent Advances in Intrusion Detection (RAID 2011), Springer.</a:t>
            </a:r>
            <a:endParaRPr lang="en-US" sz="1900" dirty="0"/>
          </a:p>
          <a:p>
            <a:pPr algn="l" indent="0" marL="0">
              <a:spcAft>
                <a:spcPts val="1000"/>
              </a:spcAft>
              <a:buNone/>
            </a:pPr>
            <a:r>
              <a:rPr lang="en-US" sz="1900" dirty="0">
                <a:solidFill>
                  <a:schemeClr val="tx1"/>
                </a:solidFill>
              </a:rPr>
              <a:t>[3] Kolbitsch, C., Comparetti, P. M., Kruegel, C., Kirda, E., Zhou, X., &amp; Wang, X. (2009). Effective and efficient malware detection at the end host. USENIX Security Symposium.</a:t>
            </a:r>
            <a:endParaRPr lang="en-US" sz="1900" dirty="0"/>
          </a:p>
          <a:p>
            <a:pPr algn="l" indent="0" marL="0">
              <a:spcAft>
                <a:spcPts val="1000"/>
              </a:spcAft>
              <a:buNone/>
            </a:pPr>
            <a:r>
              <a:rPr lang="en-US" sz="1900" dirty="0">
                <a:solidFill>
                  <a:schemeClr val="tx1"/>
                </a:solidFill>
              </a:rPr>
              <a:t>[4] Egele, M., Scholte, T., Kirda, E., &amp; Kruegel, C. (2012). A survey on automated dynamic malware-analysis techniques and tools. ACM Computing Surveys, 44(2).</a:t>
            </a:r>
            <a:endParaRPr lang="en-US" sz="1900" dirty="0"/>
          </a:p>
          <a:p>
            <a:pPr algn="l" indent="0" marL="0">
              <a:spcAft>
                <a:spcPts val="1000"/>
              </a:spcAft>
              <a:buNone/>
            </a:pPr>
            <a:r>
              <a:rPr lang="en-US" sz="1900" dirty="0">
                <a:solidFill>
                  <a:schemeClr val="tx1"/>
                </a:solidFill>
              </a:rPr>
              <a:t>[5] Moser, A., Kruegel, C., &amp; Kirda, E. (2007). Limits of static analysis for malware detection. Annual Computer Security Applications Conference (ACSAC).</a:t>
            </a:r>
            <a:endParaRPr lang="en-US" sz="19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References (2/3)</a:t>
            </a:r>
            <a:endParaRPr lang="en-US" sz="3800" dirty="0"/>
          </a:p>
        </p:txBody>
      </p:sp>
      <p:sp>
        <p:nvSpPr>
          <p:cNvPr id="3" name="Reference list"/>
          <p:cNvSpPr txBox="1"/>
          <p:nvPr/>
        </p:nvSpPr>
        <p:spPr>
          <a:xfrm>
            <a:off x="457200" y="1371600"/>
            <a:ext cx="11247120" cy="4663440"/>
          </a:xfrm>
          <a:prstGeom prst="rect">
            <a:avLst/>
          </a:prstGeom>
          <a:noFill/>
          <a:ln/>
        </p:spPr>
        <p:txBody>
          <a:bodyPr wrap="square" lIns="0" tIns="0" rIns="0" bIns="0" rtlCol="0" anchor="t"/>
          <a:lstStyle/>
          <a:p>
            <a:pPr algn="l" indent="0" marL="0">
              <a:spcAft>
                <a:spcPts val="1000"/>
              </a:spcAft>
              <a:buNone/>
            </a:pPr>
            <a:r>
              <a:rPr lang="en-US" sz="1900" dirty="0">
                <a:solidFill>
                  <a:schemeClr val="tx1"/>
                </a:solidFill>
              </a:rPr>
              <a:t>[6] Shafiq, M. Z., Tabish, S. M., Mirza, F., &amp; Farooq, M. (2009). PE-Miner: mining structural information to detect malicious executables in realtime. Recent Advances in Intrusion Detection (RAID 2009), Springer.</a:t>
            </a:r>
            <a:endParaRPr lang="en-US" sz="1900" dirty="0"/>
          </a:p>
          <a:p>
            <a:pPr algn="l" indent="0" marL="0">
              <a:spcAft>
                <a:spcPts val="1000"/>
              </a:spcAft>
              <a:buNone/>
            </a:pPr>
            <a:r>
              <a:rPr lang="en-US" sz="1900" dirty="0">
                <a:solidFill>
                  <a:schemeClr val="tx1"/>
                </a:solidFill>
              </a:rPr>
              <a:t>[7] Saxe, J., &amp; Berlin, K. (2015). Deep neural network based malware detection using two dimensional binary program features. arXiv:1508.03096.</a:t>
            </a:r>
            <a:endParaRPr lang="en-US" sz="1900" dirty="0"/>
          </a:p>
          <a:p>
            <a:pPr algn="l" indent="0" marL="0">
              <a:spcAft>
                <a:spcPts val="1000"/>
              </a:spcAft>
              <a:buNone/>
            </a:pPr>
            <a:r>
              <a:rPr lang="en-US" sz="1900" dirty="0">
                <a:solidFill>
                  <a:schemeClr val="tx1"/>
                </a:solidFill>
              </a:rPr>
              <a:t>[8] Raff, E., Barker, J., Sylvester, J., Brandon, R., Catanzaro, B., &amp; Nicholas, C. (2018). Malware detection by eating a whole EXE. arXiv:1710.09435.</a:t>
            </a:r>
            <a:endParaRPr lang="en-US" sz="1900" dirty="0"/>
          </a:p>
          <a:p>
            <a:pPr algn="l" indent="0" marL="0">
              <a:spcAft>
                <a:spcPts val="1000"/>
              </a:spcAft>
              <a:buNone/>
            </a:pPr>
            <a:r>
              <a:rPr lang="en-US" sz="1900" dirty="0">
                <a:solidFill>
                  <a:schemeClr val="tx1"/>
                </a:solidFill>
              </a:rPr>
              <a:t>[9] Anderson, H. S., &amp; Roth, P. (2018). EMBER: an open dataset for training static PE malware machine learning models. arXiv:1804.04637.</a:t>
            </a:r>
            <a:endParaRPr lang="en-US" sz="1900" dirty="0"/>
          </a:p>
          <a:p>
            <a:pPr algn="l" indent="0" marL="0">
              <a:spcAft>
                <a:spcPts val="1000"/>
              </a:spcAft>
              <a:buNone/>
            </a:pPr>
            <a:r>
              <a:rPr lang="en-US" sz="1900" dirty="0">
                <a:solidFill>
                  <a:schemeClr val="tx1"/>
                </a:solidFill>
              </a:rPr>
              <a:t>[10] Kumar, A., Kuppusamy, K. S., &amp; Aghila, G. (2019). A learning model to detect maliciousness of portable executable using integrated feature set. Journal of King Saud University: Computer and Information Sciences, 31(2). Dataset: github.com/urwithajit9/ClaMP</a:t>
            </a:r>
            <a:endParaRPr lang="en-US" sz="19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References (3/3)</a:t>
            </a:r>
            <a:endParaRPr lang="en-US" sz="3800" dirty="0"/>
          </a:p>
        </p:txBody>
      </p:sp>
      <p:sp>
        <p:nvSpPr>
          <p:cNvPr id="3" name="Reference list"/>
          <p:cNvSpPr txBox="1"/>
          <p:nvPr/>
        </p:nvSpPr>
        <p:spPr>
          <a:xfrm>
            <a:off x="457200" y="1371600"/>
            <a:ext cx="11247120" cy="4663440"/>
          </a:xfrm>
          <a:prstGeom prst="rect">
            <a:avLst/>
          </a:prstGeom>
          <a:noFill/>
          <a:ln/>
        </p:spPr>
        <p:txBody>
          <a:bodyPr wrap="square" lIns="0" tIns="0" rIns="0" bIns="0" rtlCol="0" anchor="t"/>
          <a:lstStyle/>
          <a:p>
            <a:pPr algn="l" indent="0" marL="0">
              <a:spcAft>
                <a:spcPts val="1000"/>
              </a:spcAft>
              <a:buNone/>
            </a:pPr>
            <a:r>
              <a:rPr lang="en-US" sz="1900" dirty="0">
                <a:solidFill>
                  <a:schemeClr val="tx1"/>
                </a:solidFill>
              </a:rPr>
              <a:t>[11] Breiman, L. (2001). Random forests. Machine Learning, 45(1), 5-32.</a:t>
            </a:r>
            <a:endParaRPr lang="en-US" sz="1900" dirty="0"/>
          </a:p>
          <a:p>
            <a:pPr algn="l" indent="0" marL="0">
              <a:spcAft>
                <a:spcPts val="1000"/>
              </a:spcAft>
              <a:buNone/>
            </a:pPr>
            <a:r>
              <a:rPr lang="en-US" sz="1900" dirty="0">
                <a:solidFill>
                  <a:schemeClr val="tx1"/>
                </a:solidFill>
              </a:rPr>
              <a:t>[12] Pedregosa, F., et al. (2011). Scikit-learn: machine learning in Python. Journal of Machine Learning Research, 12, 2825-2830.</a:t>
            </a:r>
            <a:endParaRPr lang="en-US" sz="1900" dirty="0"/>
          </a:p>
          <a:p>
            <a:pPr algn="l" indent="0" marL="0">
              <a:spcAft>
                <a:spcPts val="1000"/>
              </a:spcAft>
              <a:buNone/>
            </a:pPr>
            <a:r>
              <a:rPr lang="en-US" sz="1900" dirty="0">
                <a:solidFill>
                  <a:schemeClr val="tx1"/>
                </a:solidFill>
              </a:rPr>
              <a:t>[13] MITRE ATT&amp;CK. Input Capture: Keylogging (T1056.001). https://attack.mitre.org/techniques/T1056/001/</a:t>
            </a:r>
            <a:endParaRPr lang="en-US" sz="1900" dirty="0"/>
          </a:p>
          <a:p>
            <a:pPr algn="l" indent="0" marL="0">
              <a:spcAft>
                <a:spcPts val="1000"/>
              </a:spcAft>
              <a:buNone/>
            </a:pPr>
            <a:r>
              <a:rPr lang="en-US" sz="1900" dirty="0">
                <a:solidFill>
                  <a:schemeClr val="tx1"/>
                </a:solidFill>
              </a:rPr>
              <a:t>[14] Microsoft. SetWindowsHookExA function (winuser.h). https://learn.microsoft.com/en-us/windows/win32/api/winuser/nf-winuser-setwindowshookexa</a:t>
            </a:r>
            <a:endParaRPr lang="en-US" sz="19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365760" y="274320"/>
            <a:ext cx="11430000" cy="914400"/>
          </a:xfrm>
          <a:prstGeom prst="rect">
            <a:avLst/>
          </a:prstGeom>
          <a:noFill/>
          <a:ln/>
        </p:spPr>
        <p:txBody>
          <a:bodyPr wrap="square" lIns="0" tIns="0" rIns="0" bIns="0" rtlCol="0" anchor="ctr"/>
          <a:lstStyle/>
          <a:p>
            <a:pPr algn="l" indent="0" marL="0">
              <a:buNone/>
            </a:pPr>
            <a:r>
              <a:rPr lang="en-US" sz="3800" dirty="0">
                <a:solidFill>
                  <a:schemeClr val="tx1"/>
                </a:solidFill>
              </a:rPr>
              <a:t>Conclusion</a:t>
            </a:r>
            <a:endParaRPr lang="en-US" sz="3800" dirty="0"/>
          </a:p>
        </p:txBody>
      </p:sp>
      <p:sp>
        <p:nvSpPr>
          <p:cNvPr id="3" name="Text 1"/>
          <p:cNvSpPr txBox="1"/>
          <p:nvPr/>
        </p:nvSpPr>
        <p:spPr>
          <a:xfrm>
            <a:off x="822960" y="1554480"/>
            <a:ext cx="10607040" cy="4480560"/>
          </a:xfrm>
          <a:prstGeom prst="rect">
            <a:avLst/>
          </a:prstGeom>
          <a:noFill/>
          <a:ln/>
        </p:spPr>
        <p:txBody>
          <a:bodyPr wrap="square" lIns="0" tIns="0" rIns="0" bIns="0" rtlCol="0" anchor="t"/>
          <a:lstStyle/>
          <a:p>
            <a:pPr algn="just" marL="342900" indent="-342900">
              <a:lnSpc>
                <a:spcPct val="105000"/>
              </a:lnSpc>
              <a:spcAft>
                <a:spcPts val="1200"/>
              </a:spcAft>
              <a:buSzPct val="100000"/>
              <a:buChar char="•"/>
            </a:pPr>
            <a:r>
              <a:rPr lang="en-US" sz="2600" dirty="0">
                <a:solidFill>
                  <a:schemeClr val="tx1"/>
                </a:solidFill>
              </a:rPr>
              <a:t>The project delivers a Windows user-mode detector that combines a rule-based temporal engine, a malware classifier trained on real data and a MITRE ATT&amp;CK-mapped keylogger API fingerprint.</a:t>
            </a:r>
            <a:endParaRPr lang="en-US" sz="2600" dirty="0"/>
          </a:p>
          <a:p>
            <a:pPr algn="just" marL="342900" indent="-342900">
              <a:lnSpc>
                <a:spcPct val="105000"/>
              </a:lnSpc>
              <a:spcAft>
                <a:spcPts val="1200"/>
              </a:spcAft>
              <a:buSzPct val="100000"/>
              <a:buChar char="•"/>
            </a:pPr>
            <a:r>
              <a:rPr lang="en-US" sz="2600" dirty="0">
                <a:solidFill>
                  <a:schemeClr val="tx1"/>
                </a:solidFill>
              </a:rPr>
              <a:t>ML and API evidence can only amplify a rule-based trigger. Together with gating, decay, a score cap and an allowlist, this keeps benign hook users from being flagged while persistent suspicious behavior still escalates.</a:t>
            </a:r>
            <a:endParaRPr lang="en-US" sz="2600" dirty="0"/>
          </a:p>
          <a:p>
            <a:pPr algn="just" marL="342900" indent="-342900">
              <a:lnSpc>
                <a:spcPct val="105000"/>
              </a:lnSpc>
              <a:spcAft>
                <a:spcPts val="1200"/>
              </a:spcAft>
              <a:buSzPct val="100000"/>
              <a:buChar char="•"/>
            </a:pPr>
            <a:r>
              <a:rPr lang="en-US" sz="2600" dirty="0">
                <a:solidFill>
                  <a:schemeClr val="tx1"/>
                </a:solidFill>
              </a:rPr>
              <a:t>Every score traces back to a named event or API, so each decision can be explained.</a:t>
            </a:r>
            <a:endParaRPr lang="en-US" sz="2600" dirty="0"/>
          </a:p>
        </p:txBody>
      </p:sp>
      <p:sp>
        <p:nvSpPr>
          <p:cNvPr id="25" name="Slide Number Placeholder 0"/>
          <p:cNvSpPr>
            <a:spLocks noGrp="1"/>
          </p:cNvSpPr>
          <p:nvPr>
            <p:ph type="sldNum" sz="quarter" idx="4294967295"/>
          </p:nvPr>
        </p:nvSpPr>
        <p:spPr>
          <a:xfrm>
            <a:off x="11155680" y="6336792"/>
            <a:ext cx="73152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hank you"/>
          <p:cNvSpPr txBox="1"/>
          <p:nvPr/>
        </p:nvSpPr>
        <p:spPr>
          <a:xfrm>
            <a:off x="457200" y="2651760"/>
            <a:ext cx="8229600" cy="1463040"/>
          </a:xfrm>
          <a:prstGeom prst="rect">
            <a:avLst/>
          </a:prstGeom>
          <a:noFill/>
          <a:ln/>
        </p:spPr>
        <p:txBody>
          <a:bodyPr wrap="square" lIns="0" tIns="0" rIns="0" bIns="0" rtlCol="0" anchor="ctr"/>
          <a:lstStyle/>
          <a:p>
            <a:pPr indent="0" marL="0">
              <a:buNone/>
            </a:pPr>
            <a:r>
              <a:rPr lang="en-US" sz="6000" dirty="0">
                <a:solidFill>
                  <a:schemeClr val="bg1"/>
                </a:solidFill>
              </a:rPr>
              <a:t>THANK YOU!</a:t>
            </a:r>
            <a:endParaRPr lang="en-US" sz="6000" dirty="0"/>
          </a:p>
        </p:txBody>
      </p:sp>
    </p:spTree>
  </p:cSld>
  <p:clrMapOvr>
    <a:masterClrMapping/>
  </p:clrMapOvr>
</p:sld>
</file>

<file path=ppt/theme/theme1.xml><?xml version="1.0" encoding="utf-8"?>
<a:theme xmlns:a="http://schemas.openxmlformats.org/drawingml/2006/main" name="Academic Green">
  <a:themeElements>
    <a:clrScheme name="Academic Green">
      <a:dk1>
        <a:srgbClr val="17391B"/>
      </a:dk1>
      <a:lt1>
        <a:srgbClr val="E9EAE7"/>
      </a:lt1>
      <a:dk2>
        <a:srgbClr val="3A7A1F"/>
      </a:dk2>
      <a:lt2>
        <a:srgbClr val="FFFFFF"/>
      </a:lt2>
      <a:accent1>
        <a:srgbClr val="2F6B2A"/>
      </a:accent1>
      <a:accent2>
        <a:srgbClr val="6B8F5E"/>
      </a:accent2>
      <a:accent3>
        <a:srgbClr val="A93226"/>
      </a:accent3>
      <a:accent4>
        <a:srgbClr val="B7791F"/>
      </a:accent4>
      <a:accent5>
        <a:srgbClr val="4F6D7A"/>
      </a:accent5>
      <a:accent6>
        <a:srgbClr val="8A9A86"/>
      </a:accent6>
      <a:hlink>
        <a:srgbClr val="3A7A1F"/>
      </a:hlink>
      <a:folHlink>
        <a:srgbClr val="6B8F5E"/>
      </a:folHlink>
    </a:clrScheme>
    <a:fontScheme name="Academic Gree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Keyboard Hook Behavioral Detector</dc:title>
  <dc:subject>Project presentation</dc:subject>
  <dc:creator>PptxGenJS</dc:creator>
  <cp:lastModifiedBy>PptxGenJS</cp:lastModifiedBy>
  <cp:revision>1</cp:revision>
  <dcterms:created xsi:type="dcterms:W3CDTF">2026-10-14T10:03:15Z</dcterms:created>
  <dcterms:modified xsi:type="dcterms:W3CDTF">2026-10-14T10:03:15Z</dcterms:modified>
</cp:coreProperties>
</file>